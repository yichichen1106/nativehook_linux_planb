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3" d="100"/>
          <a:sy n="53" d="100"/>
        </p:scale>
        <p:origin x="68" y="4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 ops/s</c:v>
                </c:pt>
              </c:strCache>
            </c:strRef>
          </c:tx>
          <c:spPr>
            <a:solidFill>
              <a:srgbClr val="2D69B4"/>
            </a:solidFill>
            <a:ln>
              <a:solidFill>
                <a:srgbClr val="2D69B4"/>
              </a:solidFill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latin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baseline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S5</c:v>
                </c:pt>
                <c:pt idx="6">
                  <c:v>S6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17.257620600000003</c:v>
                </c:pt>
                <c:pt idx="1">
                  <c:v>14.906968800000001</c:v>
                </c:pt>
                <c:pt idx="2">
                  <c:v>10.1392138</c:v>
                </c:pt>
                <c:pt idx="3">
                  <c:v>6.8962452000000001</c:v>
                </c:pt>
                <c:pt idx="4">
                  <c:v>1.8050796</c:v>
                </c:pt>
                <c:pt idx="5">
                  <c:v>0.34280679999999997</c:v>
                </c:pt>
                <c:pt idx="6">
                  <c:v>0.30584879999999998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D69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D6B-457F-8004-AB78AB51DD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9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900">
                    <a:latin typeface="Microsoft YaHei"/>
                  </a:rPr>
                  <a:t>M ops/s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Microsoft YaHei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 ops/s</c:v>
                </c:pt>
              </c:strCache>
            </c:strRef>
          </c:tx>
          <c:spPr>
            <a:solidFill>
              <a:srgbClr val="2D69B4"/>
            </a:solidFill>
            <a:ln>
              <a:solidFill>
                <a:srgbClr val="2D69B4"/>
              </a:solidFill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latin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baseline</c:v>
                </c:pt>
                <c:pt idx="1">
                  <c:v>S1</c:v>
                </c:pt>
                <c:pt idx="2">
                  <c:v>S2</c:v>
                </c:pt>
                <c:pt idx="3">
                  <c:v>S3</c:v>
                </c:pt>
                <c:pt idx="4">
                  <c:v>S4</c:v>
                </c:pt>
                <c:pt idx="5">
                  <c:v>S5</c:v>
                </c:pt>
                <c:pt idx="6">
                  <c:v>S6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12.8865924</c:v>
                </c:pt>
                <c:pt idx="1">
                  <c:v>12.9348084</c:v>
                </c:pt>
                <c:pt idx="2">
                  <c:v>10.5933426</c:v>
                </c:pt>
                <c:pt idx="3">
                  <c:v>2.7504135999999999</c:v>
                </c:pt>
                <c:pt idx="4">
                  <c:v>0.47262120000000002</c:v>
                </c:pt>
                <c:pt idx="5">
                  <c:v>7.8295400000000001E-2</c:v>
                </c:pt>
                <c:pt idx="6">
                  <c:v>7.2970999999999994E-2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2D69B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5CD-4CB2-B7EB-51B7D5D597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900">
                    <a:latin typeface="Microsoft YaHei"/>
                  </a:rPr>
                  <a:t>M ops/s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50">
                <a:latin typeface="Microsoft YaHei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 thread</c:v>
                </c:pt>
              </c:strCache>
            </c:strRef>
          </c:tx>
          <c:spPr>
            <a:solidFill>
              <a:srgbClr val="2D69B4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base→S1</c:v>
                </c:pt>
                <c:pt idx="1">
                  <c:v>S1→S2</c:v>
                </c:pt>
                <c:pt idx="2">
                  <c:v>S2→S3</c:v>
                </c:pt>
                <c:pt idx="3">
                  <c:v>S3→S4</c:v>
                </c:pt>
                <c:pt idx="4">
                  <c:v>S4→S5</c:v>
                </c:pt>
                <c:pt idx="5">
                  <c:v>S5→S6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13.620949576328043</c:v>
                </c:pt>
                <c:pt idx="1">
                  <c:v>31.983396919701075</c:v>
                </c:pt>
                <c:pt idx="2">
                  <c:v>31.984418752467771</c:v>
                </c:pt>
                <c:pt idx="3">
                  <c:v>73.825182434058462</c:v>
                </c:pt>
                <c:pt idx="4">
                  <c:v>81.008771025942565</c:v>
                </c:pt>
                <c:pt idx="5">
                  <c:v>10.780999676785873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686-44C9-8A91-B10F288AE1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 threads</c:v>
                </c:pt>
              </c:strCache>
            </c:strRef>
          </c:tx>
          <c:spPr>
            <a:solidFill>
              <a:srgbClr val="DC7C30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base→S1</c:v>
                </c:pt>
                <c:pt idx="1">
                  <c:v>S1→S2</c:v>
                </c:pt>
                <c:pt idx="2">
                  <c:v>S2→S3</c:v>
                </c:pt>
                <c:pt idx="3">
                  <c:v>S3→S4</c:v>
                </c:pt>
                <c:pt idx="4">
                  <c:v>S4→S5</c:v>
                </c:pt>
                <c:pt idx="5">
                  <c:v>S5→S6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-0.37415632079742073</c:v>
                </c:pt>
                <c:pt idx="1">
                  <c:v>18.102052443235262</c:v>
                </c:pt>
                <c:pt idx="2">
                  <c:v>74.036395273386134</c:v>
                </c:pt>
                <c:pt idx="3">
                  <c:v>82.816358965066215</c:v>
                </c:pt>
                <c:pt idx="4">
                  <c:v>83.433794336775406</c:v>
                </c:pt>
                <c:pt idx="5">
                  <c:v>6.800399512615054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686-44C9-8A91-B10F288AE1B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rPr lang="en-US"/>
                  <a:t>drop from previous stage (%)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r"/>
      <c:overlay val="0"/>
      <c:txPr>
        <a:bodyPr/>
        <a:lstStyle/>
        <a:p>
          <a:pPr>
            <a:defRPr sz="900"/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Stage 5 record_write</c:v>
                </c:pt>
              </c:strCache>
            </c:strRef>
          </c:tx>
          <c:spPr>
            <a:solidFill>
              <a:srgbClr val="2697BA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 thread</c:v>
                </c:pt>
                <c:pt idx="1">
                  <c:v>4 threads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0.34280679999999997</c:v>
                </c:pt>
                <c:pt idx="1">
                  <c:v>7.8295400000000001E-2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3F9-45B5-9735-9BE442DDAD0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Stage 6 notify</c:v>
                </c:pt>
              </c:strCache>
            </c:strRef>
          </c:tx>
          <c:spPr>
            <a:solidFill>
              <a:srgbClr val="42915F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 thread</c:v>
                </c:pt>
                <c:pt idx="1">
                  <c:v>4 threads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0.30584879999999998</c:v>
                </c:pt>
                <c:pt idx="1">
                  <c:v>7.2970999999999994E-2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3F9-45B5-9735-9BE442DDAD0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4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05156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2900" b="1">
                <a:solidFill>
                  <a:srgbClr val="182434"/>
                </a:solidFill>
                <a:latin typeface="Microsoft YaHei"/>
              </a:rPr>
              <a:t>Plan B: Producer Hot-path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00784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707986"/>
                </a:solidFill>
                <a:latin typeface="Microsoft YaHei"/>
              </a:rPr>
              <a:t>定位 native_hook-style producer 热路径中的主要 overhead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743200"/>
            <a:ext cx="1676400" cy="621792"/>
          </a:xfrm>
          <a:prstGeom prst="roundRect">
            <a:avLst>
              <a:gd name="adj" fmla="val 8000"/>
            </a:avLst>
          </a:prstGeom>
          <a:solidFill>
            <a:srgbClr val="2D69B4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1 Hook Entry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35352" y="2942173"/>
            <a:ext cx="164592" cy="223845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63368" y="2743200"/>
            <a:ext cx="1676400" cy="621792"/>
          </a:xfrm>
          <a:prstGeom prst="roundRect">
            <a:avLst>
              <a:gd name="adj" fmla="val 8000"/>
            </a:avLst>
          </a:prstGeom>
          <a:solidFill>
            <a:srgbClr val="2697BA"/>
          </a:solidFill>
          <a:ln>
            <a:solidFill>
              <a:srgbClr val="269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2 Guard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21480" y="2942173"/>
            <a:ext cx="164592" cy="223845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49495" y="2743200"/>
            <a:ext cx="1676400" cy="621792"/>
          </a:xfrm>
          <a:prstGeom prst="roundRect">
            <a:avLst>
              <a:gd name="adj" fmla="val 8000"/>
            </a:avLst>
          </a:prstGeom>
          <a:solidFill>
            <a:srgbClr val="DC7C30"/>
          </a:solidFill>
          <a:ln>
            <a:solidFill>
              <a:srgbClr val="DC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3 Mutex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07607" y="2942173"/>
            <a:ext cx="164592" cy="223845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35623" y="2743200"/>
            <a:ext cx="1676400" cy="621792"/>
          </a:xfrm>
          <a:prstGeom prst="roundRect">
            <a:avLst>
              <a:gd name="adj" fmla="val 8000"/>
            </a:avLst>
          </a:prstGeom>
          <a:solidFill>
            <a:srgbClr val="BE4040"/>
          </a:solidFill>
          <a:ln>
            <a:solidFill>
              <a:srgbClr val="BE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4 Tracking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93736" y="2942173"/>
            <a:ext cx="164592" cy="223845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21751" y="2743200"/>
            <a:ext cx="1676400" cy="621792"/>
          </a:xfrm>
          <a:prstGeom prst="roundRect">
            <a:avLst>
              <a:gd name="adj" fmla="val 8000"/>
            </a:avLst>
          </a:prstGeom>
          <a:solidFill>
            <a:srgbClr val="7E59B3"/>
          </a:solidFill>
          <a:ln>
            <a:solidFill>
              <a:srgbClr val="7E5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5 Record Write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579864" y="2942173"/>
            <a:ext cx="164592" cy="223845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707879" y="2743200"/>
            <a:ext cx="1676400" cy="621792"/>
          </a:xfrm>
          <a:prstGeom prst="roundRect">
            <a:avLst>
              <a:gd name="adj" fmla="val 8000"/>
            </a:avLst>
          </a:prstGeom>
          <a:solidFill>
            <a:srgbClr val="42915F"/>
          </a:solidFill>
          <a:ln>
            <a:solidFill>
              <a:srgbClr val="42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6 Notify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86200"/>
            <a:ext cx="9966960" cy="731520"/>
          </a:xfrm>
          <a:prstGeom prst="rect">
            <a:avLst/>
          </a:prstGeom>
          <a:solidFill>
            <a:srgbClr val="F6F8FB"/>
          </a:solidFill>
          <a:ln>
            <a:solidFill>
              <a:srgbClr val="CFD5DE"/>
            </a:solidFill>
          </a:ln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2400" b="1">
                <a:solidFill>
                  <a:srgbClr val="182434"/>
                </a:solidFill>
                <a:latin typeface="Microsoft YaHei"/>
              </a:rPr>
              <a:t>record 变少以后，剩下的 overhead 主要卡在哪里？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9788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707986"/>
                </a:solidFill>
                <a:latin typeface="Microsoft YaHei"/>
              </a:rPr>
              <a:t>陈一驰 · 2026-05-06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1908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707986"/>
                </a:solidFill>
                <a:latin typeface="Microsoft YaHei"/>
              </a:rPr>
              <a:t>native_hook Plan B · producer hot-path ablation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r"/>
            <a:r>
              <a:rPr sz="850" b="0">
                <a:solidFill>
                  <a:srgbClr val="707986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182434"/>
                </a:solidFill>
                <a:latin typeface="Microsoft YaHei"/>
              </a:rPr>
              <a:t>Why Ablation Instead of Another Sweep?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960120" cy="36576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707986"/>
                </a:solidFill>
                <a:latin typeface="Microsoft YaHei"/>
              </a:rPr>
              <a:t>上一轮已经说明 sample/filter 有用，但 throughput 很快进入平台区</a:t>
            </a:r>
          </a:p>
        </p:txBody>
      </p:sp>
      <p:pic>
        <p:nvPicPr>
          <p:cNvPr id="5" name="Picture 4" descr="planb_sweep_summary_ppt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400800" cy="355420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508760"/>
            <a:ext cx="3749039" cy="2926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bIns="137160" rtlCol="0" anchor="ctr"/>
          <a:lstStyle/>
          <a:p>
            <a:pPr algn="ctr">
              <a:spcAft>
                <a:spcPts val="400"/>
              </a:spcAft>
              <a:defRPr sz="1500">
                <a:solidFill>
                  <a:srgbClr val="303842"/>
                </a:solidFill>
                <a:latin typeface="Microsoft YaHei"/>
              </a:defRPr>
            </a:pPr>
            <a:r>
              <a:rPr dirty="0" err="1"/>
              <a:t>sample_interval</a:t>
            </a:r>
            <a:r>
              <a:rPr dirty="0"/>
              <a:t> / </a:t>
            </a:r>
            <a:r>
              <a:rPr dirty="0" err="1"/>
              <a:t>filter_size</a:t>
            </a:r>
            <a:r>
              <a:rPr dirty="0"/>
              <a:t> </a:t>
            </a:r>
            <a:r>
              <a:rPr dirty="0" err="1"/>
              <a:t>能压低</a:t>
            </a:r>
            <a:r>
              <a:rPr dirty="0"/>
              <a:t> record </a:t>
            </a:r>
            <a:r>
              <a:rPr dirty="0" err="1"/>
              <a:t>流量</a:t>
            </a: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303842"/>
                </a:solidFill>
                <a:latin typeface="Microsoft YaHei"/>
              </a:defRPr>
            </a:pPr>
            <a:r>
              <a:rPr dirty="0"/>
              <a:t>throughput </a:t>
            </a:r>
            <a:r>
              <a:rPr dirty="0" err="1"/>
              <a:t>恢复后很快平台化</a:t>
            </a:r>
            <a:endParaRPr dirty="0"/>
          </a:p>
          <a:p>
            <a:pPr>
              <a:spcAft>
                <a:spcPts val="400"/>
              </a:spcAft>
              <a:defRPr sz="1500">
                <a:solidFill>
                  <a:srgbClr val="303842"/>
                </a:solidFill>
                <a:latin typeface="Microsoft YaHei"/>
              </a:defRPr>
            </a:pPr>
            <a:r>
              <a:rPr dirty="0" err="1"/>
              <a:t>剩余成本更像在</a:t>
            </a:r>
            <a:r>
              <a:rPr dirty="0"/>
              <a:t> producer </a:t>
            </a:r>
            <a:r>
              <a:rPr dirty="0" err="1"/>
              <a:t>本地热路径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543800" y="4800600"/>
            <a:ext cx="3749039" cy="685800"/>
          </a:xfrm>
          <a:prstGeom prst="rect">
            <a:avLst/>
          </a:prstGeom>
          <a:solidFill>
            <a:srgbClr val="F6F8FB"/>
          </a:solidFill>
          <a:ln>
            <a:solidFill>
              <a:srgbClr val="CFD5DE"/>
            </a:solidFill>
          </a:ln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182434"/>
                </a:solidFill>
                <a:latin typeface="Microsoft YaHei"/>
              </a:rPr>
              <a:t>这周目标：不重复旧 sweep，而是拆 producer hot path。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707986"/>
                </a:solidFill>
                <a:latin typeface="Microsoft YaHei"/>
              </a:rPr>
              <a:t>native_hook Plan B · producer hot-path ablation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r"/>
            <a:r>
              <a:rPr sz="850" b="0">
                <a:solidFill>
                  <a:srgbClr val="707986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182434"/>
                </a:solidFill>
                <a:latin typeface="Microsoft YaHei"/>
              </a:rPr>
              <a:t>Question: Which Producer Layer Hurts Most?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960120" cy="36576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707986"/>
                </a:solidFill>
                <a:latin typeface="Microsoft YaHei"/>
              </a:rPr>
              <a:t>把 producer 路径按累计方式逐层打开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1676400" cy="713232"/>
          </a:xfrm>
          <a:prstGeom prst="roundRect">
            <a:avLst>
              <a:gd name="adj" fmla="val 8000"/>
            </a:avLst>
          </a:prstGeom>
          <a:solidFill>
            <a:srgbClr val="2D69B4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Hook Entry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35352" y="2194194"/>
            <a:ext cx="164592" cy="256763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3368" y="1965960"/>
            <a:ext cx="1676400" cy="713232"/>
          </a:xfrm>
          <a:prstGeom prst="roundRect">
            <a:avLst>
              <a:gd name="adj" fmla="val 8000"/>
            </a:avLst>
          </a:prstGeom>
          <a:solidFill>
            <a:srgbClr val="2697BA"/>
          </a:solidFill>
          <a:ln>
            <a:solidFill>
              <a:srgbClr val="269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Reentry Guard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21480" y="2194194"/>
            <a:ext cx="164592" cy="256763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49495" y="1965960"/>
            <a:ext cx="1676400" cy="713232"/>
          </a:xfrm>
          <a:prstGeom prst="roundRect">
            <a:avLst>
              <a:gd name="adj" fmla="val 8000"/>
            </a:avLst>
          </a:prstGeom>
          <a:solidFill>
            <a:srgbClr val="DC7C30"/>
          </a:solidFill>
          <a:ln>
            <a:solidFill>
              <a:srgbClr val="DC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Mutex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07607" y="2194194"/>
            <a:ext cx="164592" cy="256763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35623" y="1965960"/>
            <a:ext cx="1676400" cy="713232"/>
          </a:xfrm>
          <a:prstGeom prst="roundRect">
            <a:avLst>
              <a:gd name="adj" fmla="val 8000"/>
            </a:avLst>
          </a:prstGeom>
          <a:solidFill>
            <a:srgbClr val="BE4040"/>
          </a:solidFill>
          <a:ln>
            <a:solidFill>
              <a:srgbClr val="BE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Allocation Tracking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3736" y="2194194"/>
            <a:ext cx="164592" cy="256763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21751" y="1965960"/>
            <a:ext cx="1676400" cy="713232"/>
          </a:xfrm>
          <a:prstGeom prst="roundRect">
            <a:avLst>
              <a:gd name="adj" fmla="val 8000"/>
            </a:avLst>
          </a:prstGeom>
          <a:solidFill>
            <a:srgbClr val="7E59B3"/>
          </a:solidFill>
          <a:ln>
            <a:solidFill>
              <a:srgbClr val="7E5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Record Write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79864" y="2194194"/>
            <a:ext cx="164592" cy="256763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07879" y="1965960"/>
            <a:ext cx="1676400" cy="713232"/>
          </a:xfrm>
          <a:prstGeom prst="roundRect">
            <a:avLst>
              <a:gd name="adj" fmla="val 8000"/>
            </a:avLst>
          </a:prstGeom>
          <a:solidFill>
            <a:srgbClr val="42915F"/>
          </a:solidFill>
          <a:ln>
            <a:solidFill>
              <a:srgbClr val="42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Notify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37560"/>
            <a:ext cx="4937760" cy="1737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bIns="137160" rtlCol="0" anchor="ctr"/>
          <a:lstStyle/>
          <a:p>
            <a:pPr algn="ctr">
              <a:spcAft>
                <a:spcPts val="400"/>
              </a:spcAft>
              <a:defRPr sz="1600">
                <a:solidFill>
                  <a:srgbClr val="303842"/>
                </a:solidFill>
                <a:latin typeface="Microsoft YaHei"/>
              </a:defRPr>
            </a:pPr>
            <a:r>
              <a:t>每次只多打开一层</a:t>
            </a:r>
          </a:p>
          <a:p>
            <a:pPr>
              <a:spcAft>
                <a:spcPts val="400"/>
              </a:spcAft>
              <a:defRPr sz="1600">
                <a:solidFill>
                  <a:srgbClr val="303842"/>
                </a:solidFill>
                <a:latin typeface="Microsoft YaHei"/>
              </a:defRPr>
            </a:pPr>
            <a:r>
              <a:t>比较相邻 stage 的吞吐下降</a:t>
            </a:r>
          </a:p>
          <a:p>
            <a:pPr>
              <a:spcAft>
                <a:spcPts val="400"/>
              </a:spcAft>
              <a:defRPr sz="1600">
                <a:solidFill>
                  <a:srgbClr val="303842"/>
                </a:solidFill>
                <a:latin typeface="Microsoft YaHei"/>
              </a:defRPr>
            </a:pPr>
            <a:r>
              <a:t>目标是定位瓶颈，不是给最终 overhead 定论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337560"/>
            <a:ext cx="4663440" cy="1737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bIns="137160" rtlCol="0" anchor="ctr"/>
          <a:lstStyle/>
          <a:p>
            <a:pPr algn="ctr">
              <a:spcAft>
                <a:spcPts val="400"/>
              </a:spcAft>
              <a:defRPr sz="1600">
                <a:solidFill>
                  <a:srgbClr val="303842"/>
                </a:solidFill>
                <a:latin typeface="Microsoft YaHei"/>
              </a:defRPr>
            </a:pPr>
            <a:r>
              <a:t>固定 sample_interval=1</a:t>
            </a:r>
          </a:p>
          <a:p>
            <a:pPr>
              <a:spcAft>
                <a:spcPts val="400"/>
              </a:spcAft>
              <a:defRPr sz="1600">
                <a:solidFill>
                  <a:srgbClr val="303842"/>
                </a:solidFill>
                <a:latin typeface="Microsoft YaHei"/>
              </a:defRPr>
            </a:pPr>
            <a:r>
              <a:t>固定 filter_size=-1</a:t>
            </a:r>
          </a:p>
          <a:p>
            <a:pPr>
              <a:spcAft>
                <a:spcPts val="400"/>
              </a:spcAft>
              <a:defRPr sz="1600">
                <a:solidFill>
                  <a:srgbClr val="303842"/>
                </a:solidFill>
                <a:latin typeface="Microsoft YaHei"/>
              </a:defRPr>
            </a:pPr>
            <a:r>
              <a:t>record 密集场景用于放大热路径成本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707986"/>
                </a:solidFill>
                <a:latin typeface="Microsoft YaHei"/>
              </a:rPr>
              <a:t>native_hook Plan B · producer hot-path ablation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r"/>
            <a:r>
              <a:rPr sz="850" b="0">
                <a:solidFill>
                  <a:srgbClr val="707986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182434"/>
                </a:solidFill>
                <a:latin typeface="Microsoft YaHei"/>
              </a:rPr>
              <a:t>Ablation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960120" cy="36576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707986"/>
                </a:solidFill>
                <a:latin typeface="Microsoft YaHei"/>
              </a:rPr>
              <a:t>6 个 stage 都是可编辑表格，方便组会上临时改措辞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417320"/>
          <a:ext cx="1078992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1297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182434"/>
                          </a:solidFill>
                          <a:latin typeface="Microsoft YaHei"/>
                        </a:rPr>
                        <a:t>Stage</a:t>
                      </a:r>
                    </a:p>
                  </a:txBody>
                  <a:tcPr marL="36576" marR="36576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182434"/>
                          </a:solidFill>
                          <a:latin typeface="Microsoft YaHei"/>
                        </a:rPr>
                        <a:t>Name</a:t>
                      </a:r>
                    </a:p>
                  </a:txBody>
                  <a:tcPr marL="36576" marR="36576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182434"/>
                          </a:solidFill>
                          <a:latin typeface="Microsoft YaHei"/>
                        </a:rPr>
                        <a:t>保留的热路径</a:t>
                      </a:r>
                    </a:p>
                  </a:txBody>
                  <a:tcPr marL="36576" marR="36576" marT="18288" marB="18288"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hook_entry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只进入 malloc/free hook wrapper，然后直接返回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guard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Stage 1 + HookReentryGuard 线程本地重入保护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mutex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Stage 2 + HookWriter 入口 + pthread_mutex lock/unlock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tracking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Stage 3 + allocation tracking，free 只跟随 kept alloc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297"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record_write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Stage 4 + metadata 填充 + shared memory record write，不 notify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298">
                <a:tc>
                  <a:txBody>
                    <a:bodyPr/>
                    <a:lstStyle/>
                    <a:p>
                      <a:pPr algn="ctr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notify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303842"/>
                          </a:solidFill>
                          <a:latin typeface="Microsoft YaHei"/>
                        </a:rPr>
                        <a:t>当前完整路径：record write + eventfd notify + consumer drain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687568"/>
            <a:ext cx="10149840" cy="438912"/>
          </a:xfrm>
          <a:prstGeom prst="rect">
            <a:avLst/>
          </a:prstGeom>
          <a:solidFill>
            <a:srgbClr val="FFF8EE"/>
          </a:solidFill>
          <a:ln>
            <a:solidFill>
              <a:srgbClr val="EECCA0"/>
            </a:solidFill>
          </a:ln>
        </p:spPr>
        <p:txBody>
          <a:bodyPr wrap="none" lIns="73152" tIns="73152" rIns="73152" bIns="73152" anchor="ctr">
            <a:spAutoFit/>
          </a:bodyPr>
          <a:lstStyle/>
          <a:p>
            <a:pPr algn="ctr"/>
            <a:r>
              <a:rPr sz="1350" b="1">
                <a:solidFill>
                  <a:srgbClr val="182434"/>
                </a:solidFill>
                <a:latin typeface="Microsoft YaHei"/>
              </a:rPr>
              <a:t>Stage 5 使用 ablation-only self-drain，避免 ring buffer 填满后把结果变成 dropped 测试。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707986"/>
                </a:solidFill>
                <a:latin typeface="Microsoft YaHei"/>
              </a:rPr>
              <a:t>native_hook Plan B · producer hot-path ablation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r"/>
            <a:r>
              <a:rPr sz="850" b="0">
                <a:solidFill>
                  <a:srgbClr val="707986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182434"/>
                </a:solidFill>
                <a:latin typeface="Microsoft YaHei"/>
              </a:rPr>
              <a:t>Single-thread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960120" cy="36576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707986"/>
                </a:solidFill>
                <a:latin typeface="Microsoft YaHei"/>
              </a:rPr>
              <a:t>tracking 和 record write 是单线程里最明显的下降点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417320"/>
          <a:ext cx="69494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01000" y="1572768"/>
            <a:ext cx="3337560" cy="1965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bIns="137160" rtlCol="0" anchor="ctr"/>
          <a:lstStyle/>
          <a:p>
            <a:pPr algn="ctr"/>
            <a:r>
              <a:rPr sz="1450" b="1">
                <a:solidFill>
                  <a:srgbClr val="182434"/>
                </a:solidFill>
                <a:latin typeface="Microsoft YaHei"/>
              </a:rPr>
              <a:t>关键数字</a:t>
            </a:r>
          </a:p>
          <a:p>
            <a:pPr>
              <a:spcAft>
                <a:spcPts val="400"/>
              </a:spcAft>
              <a:defRPr sz="1450">
                <a:solidFill>
                  <a:srgbClr val="303842"/>
                </a:solidFill>
                <a:latin typeface="Microsoft YaHei"/>
              </a:defRPr>
            </a:pPr>
            <a:r>
              <a:t>baseline: 17.26M ops/s</a:t>
            </a:r>
          </a:p>
          <a:p>
            <a:pPr>
              <a:spcAft>
                <a:spcPts val="400"/>
              </a:spcAft>
              <a:defRPr sz="1450">
                <a:solidFill>
                  <a:srgbClr val="303842"/>
                </a:solidFill>
                <a:latin typeface="Microsoft YaHei"/>
              </a:defRPr>
            </a:pPr>
            <a:r>
              <a:t>Stage 4 tracking: 1.81M</a:t>
            </a:r>
          </a:p>
          <a:p>
            <a:pPr>
              <a:spcAft>
                <a:spcPts val="400"/>
              </a:spcAft>
              <a:defRPr sz="1450">
                <a:solidFill>
                  <a:srgbClr val="303842"/>
                </a:solidFill>
                <a:latin typeface="Microsoft YaHei"/>
              </a:defRPr>
            </a:pPr>
            <a:r>
              <a:t>Stage 5 record_write: 0.34M</a:t>
            </a:r>
          </a:p>
          <a:p>
            <a:pPr>
              <a:spcAft>
                <a:spcPts val="400"/>
              </a:spcAft>
              <a:defRPr sz="1450">
                <a:solidFill>
                  <a:srgbClr val="303842"/>
                </a:solidFill>
                <a:latin typeface="Microsoft YaHei"/>
              </a:defRPr>
            </a:pPr>
            <a:r>
              <a:t>Stage 6 notify: 0.31M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3977639"/>
            <a:ext cx="3337560" cy="1051560"/>
          </a:xfrm>
          <a:prstGeom prst="rect">
            <a:avLst/>
          </a:prstGeom>
          <a:solidFill>
            <a:srgbClr val="F6F8FB"/>
          </a:solidFill>
          <a:ln>
            <a:solidFill>
              <a:srgbClr val="CFD5DE"/>
            </a:solidFill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450" b="0">
                <a:solidFill>
                  <a:srgbClr val="303842"/>
                </a:solidFill>
                <a:latin typeface="Microsoft YaHei"/>
              </a:rPr>
              <a:t>单线程下，notify 的增量不大；producer 本地 tracking / record write 已经把吞吐压到很低。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707986"/>
                </a:solidFill>
                <a:latin typeface="Microsoft YaHei"/>
              </a:rPr>
              <a:t>native_hook Plan B · producer hot-path ablation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r"/>
            <a:r>
              <a:rPr sz="850" b="0">
                <a:solidFill>
                  <a:srgbClr val="707986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182434"/>
                </a:solidFill>
                <a:latin typeface="Microsoft YaHei"/>
              </a:rPr>
              <a:t>Four-thread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960120" cy="36576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707986"/>
                </a:solidFill>
                <a:latin typeface="Microsoft YaHei"/>
              </a:rPr>
              <a:t>多线程下全局 mutex 的影响被明显放大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417320"/>
          <a:ext cx="69494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01000" y="1572768"/>
            <a:ext cx="3337560" cy="1965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bIns="137160" rtlCol="0" anchor="ctr"/>
          <a:lstStyle/>
          <a:p>
            <a:pPr algn="ctr"/>
            <a:r>
              <a:rPr sz="1450" b="1">
                <a:solidFill>
                  <a:srgbClr val="182434"/>
                </a:solidFill>
                <a:latin typeface="Microsoft YaHei"/>
              </a:rPr>
              <a:t>关键数字</a:t>
            </a:r>
          </a:p>
          <a:p>
            <a:pPr>
              <a:spcAft>
                <a:spcPts val="400"/>
              </a:spcAft>
              <a:defRPr sz="1450">
                <a:solidFill>
                  <a:srgbClr val="303842"/>
                </a:solidFill>
                <a:latin typeface="Microsoft YaHei"/>
              </a:defRPr>
            </a:pPr>
            <a:r>
              <a:t>baseline: 12.89M ops/s</a:t>
            </a:r>
          </a:p>
          <a:p>
            <a:pPr>
              <a:spcAft>
                <a:spcPts val="400"/>
              </a:spcAft>
              <a:defRPr sz="1450">
                <a:solidFill>
                  <a:srgbClr val="303842"/>
                </a:solidFill>
                <a:latin typeface="Microsoft YaHei"/>
              </a:defRPr>
            </a:pPr>
            <a:r>
              <a:t>Stage 2 guard: 10.59M</a:t>
            </a:r>
          </a:p>
          <a:p>
            <a:pPr>
              <a:spcAft>
                <a:spcPts val="400"/>
              </a:spcAft>
              <a:defRPr sz="1450">
                <a:solidFill>
                  <a:srgbClr val="303842"/>
                </a:solidFill>
                <a:latin typeface="Microsoft YaHei"/>
              </a:defRPr>
            </a:pPr>
            <a:r>
              <a:t>Stage 3 mutex: 2.75M</a:t>
            </a:r>
          </a:p>
          <a:p>
            <a:pPr>
              <a:spcAft>
                <a:spcPts val="400"/>
              </a:spcAft>
              <a:defRPr sz="1450">
                <a:solidFill>
                  <a:srgbClr val="303842"/>
                </a:solidFill>
                <a:latin typeface="Microsoft YaHei"/>
              </a:defRPr>
            </a:pPr>
            <a:r>
              <a:t>Stage 4 tracking: 0.47M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3977639"/>
            <a:ext cx="3337560" cy="1051560"/>
          </a:xfrm>
          <a:prstGeom prst="rect">
            <a:avLst/>
          </a:prstGeom>
          <a:solidFill>
            <a:srgbClr val="F6F8FB"/>
          </a:solidFill>
          <a:ln>
            <a:solidFill>
              <a:srgbClr val="CFD5DE"/>
            </a:solidFill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450" b="0">
                <a:solidFill>
                  <a:srgbClr val="303842"/>
                </a:solidFill>
                <a:latin typeface="Microsoft YaHei"/>
              </a:rPr>
              <a:t>Stage 2 到 Stage 3 掉得很厉害，说明 global mutex 很容易变成 producer hot path 的瓶颈。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707986"/>
                </a:solidFill>
                <a:latin typeface="Microsoft YaHei"/>
              </a:rPr>
              <a:t>native_hook Plan B · producer hot-path ablation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r"/>
            <a:r>
              <a:rPr sz="850" b="0">
                <a:solidFill>
                  <a:srgbClr val="707986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182434"/>
                </a:solidFill>
                <a:latin typeface="Microsoft YaHei"/>
              </a:rPr>
              <a:t>Where Does Throughput Drop?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960120" cy="36576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707986"/>
                </a:solidFill>
                <a:latin typeface="Microsoft YaHei"/>
              </a:rPr>
              <a:t>看相邻 stage 的下降，比只看绝对吞吐更能定位新增成本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17320"/>
          <a:ext cx="70408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92440" y="1600200"/>
            <a:ext cx="324612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bIns="137160" rtlCol="0" anchor="ctr"/>
          <a:lstStyle/>
          <a:p>
            <a:pPr algn="ctr"/>
            <a:r>
              <a:rPr sz="1420" b="1">
                <a:solidFill>
                  <a:srgbClr val="182434"/>
                </a:solidFill>
                <a:latin typeface="Microsoft YaHei"/>
              </a:rPr>
              <a:t>读图方式</a:t>
            </a:r>
          </a:p>
          <a:p>
            <a:pPr>
              <a:spcAft>
                <a:spcPts val="400"/>
              </a:spcAft>
              <a:defRPr sz="1420">
                <a:solidFill>
                  <a:srgbClr val="303842"/>
                </a:solidFill>
                <a:latin typeface="Microsoft YaHei"/>
              </a:defRPr>
            </a:pPr>
            <a:r>
              <a:t>1 thread：S3→S4、S4→S5 最明显</a:t>
            </a:r>
          </a:p>
          <a:p>
            <a:pPr>
              <a:spcAft>
                <a:spcPts val="400"/>
              </a:spcAft>
              <a:defRPr sz="1420">
                <a:solidFill>
                  <a:srgbClr val="303842"/>
                </a:solidFill>
                <a:latin typeface="Microsoft YaHei"/>
              </a:defRPr>
            </a:pPr>
            <a:r>
              <a:t>4 threads：S2→S3、S3→S4、S4→S5 都很重</a:t>
            </a:r>
          </a:p>
          <a:p>
            <a:pPr>
              <a:spcAft>
                <a:spcPts val="400"/>
              </a:spcAft>
              <a:defRPr sz="1420">
                <a:solidFill>
                  <a:srgbClr val="303842"/>
                </a:solidFill>
                <a:latin typeface="Microsoft YaHei"/>
              </a:defRPr>
            </a:pPr>
            <a:r>
              <a:t>mutex、tracking、record write 是下一轮细拆重点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707986"/>
                </a:solidFill>
                <a:latin typeface="Microsoft YaHei"/>
              </a:rPr>
              <a:t>native_hook Plan B · producer hot-path ablation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r"/>
            <a:r>
              <a:rPr sz="850" b="0">
                <a:solidFill>
                  <a:srgbClr val="707986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182434"/>
                </a:solidFill>
                <a:latin typeface="Microsoft YaHei"/>
              </a:rPr>
              <a:t>Notify Is Not the Main Incremental Cost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960120" cy="36576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707986"/>
                </a:solidFill>
                <a:latin typeface="Microsoft YaHei"/>
              </a:rPr>
              <a:t>Stage 5 到 Stage 6 的差距很小，consumer metrics 也正常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508760"/>
          <a:ext cx="608076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600200"/>
          <a:ext cx="3840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82434"/>
                          </a:solidFill>
                          <a:latin typeface="Microsoft YaHei"/>
                        </a:rPr>
                        <a:t>metric</a:t>
                      </a:r>
                    </a:p>
                  </a:txBody>
                  <a:tcPr marL="36576" marR="36576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82434"/>
                          </a:solidFill>
                          <a:latin typeface="Microsoft YaHei"/>
                        </a:rPr>
                        <a:t>1 thread</a:t>
                      </a:r>
                    </a:p>
                  </a:txBody>
                  <a:tcPr marL="36576" marR="36576" marT="18288" marB="18288"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82434"/>
                          </a:solidFill>
                          <a:latin typeface="Microsoft YaHei"/>
                        </a:rPr>
                        <a:t>4 threads</a:t>
                      </a:r>
                    </a:p>
                  </a:txBody>
                  <a:tcPr marL="36576" marR="36576" marT="18288" marB="18288">
                    <a:solidFill>
                      <a:srgbClr val="EEF3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03842"/>
                          </a:solidFill>
                          <a:latin typeface="Microsoft YaHei"/>
                        </a:rPr>
                        <a:t>records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03842"/>
                          </a:solidFill>
                          <a:latin typeface="Microsoft YaHei"/>
                        </a:rPr>
                        <a:t>3,061,545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03842"/>
                          </a:solidFill>
                          <a:latin typeface="Microsoft YaHei"/>
                        </a:rPr>
                        <a:t>730,440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03842"/>
                          </a:solidFill>
                          <a:latin typeface="Microsoft YaHei"/>
                        </a:rPr>
                        <a:t>flush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03842"/>
                          </a:solidFill>
                          <a:latin typeface="Microsoft YaHei"/>
                        </a:rPr>
                        <a:t>153,049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03842"/>
                          </a:solidFill>
                          <a:latin typeface="Microsoft YaHei"/>
                        </a:rPr>
                        <a:t>36,522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03842"/>
                          </a:solidFill>
                          <a:latin typeface="Microsoft YaHei"/>
                        </a:rPr>
                        <a:t>dropped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0384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03842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03842"/>
                          </a:solidFill>
                          <a:latin typeface="Microsoft YaHei"/>
                        </a:rPr>
                        <a:t>avg_batch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03842"/>
                          </a:solidFill>
                          <a:latin typeface="Microsoft YaHei"/>
                        </a:rPr>
                        <a:t>20.00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303842"/>
                          </a:solidFill>
                          <a:latin typeface="Microsoft YaHei"/>
                        </a:rPr>
                        <a:t>20.00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60920" y="4251960"/>
            <a:ext cx="3794760" cy="822960"/>
          </a:xfrm>
          <a:prstGeom prst="rect">
            <a:avLst/>
          </a:prstGeom>
          <a:solidFill>
            <a:srgbClr val="F6F8FB"/>
          </a:solidFill>
          <a:ln>
            <a:solidFill>
              <a:srgbClr val="CFD5DE"/>
            </a:solidFill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303842"/>
                </a:solidFill>
                <a:latin typeface="Microsoft YaHei"/>
              </a:rPr>
              <a:t>avg_batch 稳定在 20，dropped=0；这轮瓶颈更像发生在 producer 本地写入之前或写入时。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707986"/>
                </a:solidFill>
                <a:latin typeface="Microsoft YaHei"/>
              </a:rPr>
              <a:t>native_hook Plan B · producer hot-path ablation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r"/>
            <a:r>
              <a:rPr sz="850" b="0">
                <a:solidFill>
                  <a:srgbClr val="707986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0040"/>
            <a:ext cx="10241280" cy="420624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2300" b="1">
                <a:solidFill>
                  <a:srgbClr val="182434"/>
                </a:solidFill>
                <a:latin typeface="Microsoft YaHei"/>
              </a:rPr>
              <a:t>Takeaways and Next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841248"/>
            <a:ext cx="960120" cy="36576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424160" cy="320040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707986"/>
                </a:solidFill>
                <a:latin typeface="Microsoft YaHei"/>
              </a:rPr>
              <a:t>这组结果作为瓶颈定位证据，不作为最终 overhead 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661160" cy="640080"/>
          </a:xfrm>
          <a:prstGeom prst="roundRect">
            <a:avLst>
              <a:gd name="adj" fmla="val 8000"/>
            </a:avLst>
          </a:prstGeom>
          <a:solidFill>
            <a:srgbClr val="2D69B4"/>
          </a:solidFill>
          <a:ln>
            <a:solidFill>
              <a:srgbClr val="2D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Hook Entry
有成本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0112" y="1622145"/>
            <a:ext cx="164592" cy="230428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48128" y="1417320"/>
            <a:ext cx="1661160" cy="640080"/>
          </a:xfrm>
          <a:prstGeom prst="roundRect">
            <a:avLst>
              <a:gd name="adj" fmla="val 8000"/>
            </a:avLst>
          </a:prstGeom>
          <a:solidFill>
            <a:srgbClr val="2697BA"/>
          </a:solidFill>
          <a:ln>
            <a:solidFill>
              <a:srgbClr val="2697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Guard
有成本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91000" y="1622145"/>
            <a:ext cx="164592" cy="230428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19015" y="1417320"/>
            <a:ext cx="1661160" cy="640080"/>
          </a:xfrm>
          <a:prstGeom prst="roundRect">
            <a:avLst>
              <a:gd name="adj" fmla="val 8000"/>
            </a:avLst>
          </a:prstGeom>
          <a:solidFill>
            <a:srgbClr val="DC7C30"/>
          </a:solidFill>
          <a:ln>
            <a:solidFill>
              <a:srgbClr val="DC7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Mutex
多线程明显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61888" y="1622145"/>
            <a:ext cx="164592" cy="230428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89903" y="1417320"/>
            <a:ext cx="1661160" cy="640080"/>
          </a:xfrm>
          <a:prstGeom prst="roundRect">
            <a:avLst>
              <a:gd name="adj" fmla="val 8000"/>
            </a:avLst>
          </a:prstGeom>
          <a:solidFill>
            <a:srgbClr val="BE4040"/>
          </a:solidFill>
          <a:ln>
            <a:solidFill>
              <a:srgbClr val="BE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Tracking
明显大头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32776" y="1622145"/>
            <a:ext cx="164592" cy="230428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60791" y="1417320"/>
            <a:ext cx="1661160" cy="640080"/>
          </a:xfrm>
          <a:prstGeom prst="roundRect">
            <a:avLst>
              <a:gd name="adj" fmla="val 8000"/>
            </a:avLst>
          </a:prstGeom>
          <a:solidFill>
            <a:srgbClr val="7E59B3"/>
          </a:solidFill>
          <a:ln>
            <a:solidFill>
              <a:srgbClr val="7E59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Record Write
明显大头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503664" y="1622145"/>
            <a:ext cx="164592" cy="230428"/>
          </a:xfrm>
          <a:prstGeom prst="rightArrow">
            <a:avLst/>
          </a:prstGeom>
          <a:solidFill>
            <a:srgbClr val="BEC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31680" y="1417320"/>
            <a:ext cx="1661160" cy="640080"/>
          </a:xfrm>
          <a:prstGeom prst="roundRect">
            <a:avLst>
              <a:gd name="adj" fmla="val 8000"/>
            </a:avLst>
          </a:prstGeom>
          <a:solidFill>
            <a:srgbClr val="42915F"/>
          </a:solidFill>
          <a:ln>
            <a:solidFill>
              <a:srgbClr val="42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YaHei"/>
              </a:rPr>
              <a:t>Notify
不是最大增量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14600"/>
            <a:ext cx="4983480" cy="26060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bIns="137160" rtlCol="0" anchor="ctr"/>
          <a:lstStyle/>
          <a:p>
            <a:pPr algn="ctr"/>
            <a:r>
              <a:rPr sz="1550" b="1">
                <a:solidFill>
                  <a:srgbClr val="182434"/>
                </a:solidFill>
                <a:latin typeface="Microsoft YaHei"/>
              </a:rPr>
              <a:t>Takeaways</a:t>
            </a:r>
          </a:p>
          <a:p>
            <a:pPr>
              <a:spcAft>
                <a:spcPts val="400"/>
              </a:spcAft>
              <a:defRPr sz="1550">
                <a:solidFill>
                  <a:srgbClr val="303842"/>
                </a:solidFill>
                <a:latin typeface="Microsoft YaHei"/>
              </a:defRPr>
            </a:pPr>
            <a:r>
              <a:t>剩余 overhead 更像集中在 producer 本地热路径</a:t>
            </a:r>
          </a:p>
          <a:p>
            <a:pPr>
              <a:spcAft>
                <a:spcPts val="400"/>
              </a:spcAft>
              <a:defRPr sz="1550">
                <a:solidFill>
                  <a:srgbClr val="303842"/>
                </a:solidFill>
                <a:latin typeface="Microsoft YaHei"/>
              </a:defRPr>
            </a:pPr>
            <a:r>
              <a:t>当前 tracking 的 unordered_set + global mutex 成本很高</a:t>
            </a:r>
          </a:p>
          <a:p>
            <a:pPr>
              <a:spcAft>
                <a:spcPts val="400"/>
              </a:spcAft>
              <a:defRPr sz="1550">
                <a:solidFill>
                  <a:srgbClr val="303842"/>
                </a:solidFill>
                <a:latin typeface="Microsoft YaHei"/>
              </a:defRPr>
            </a:pPr>
            <a:r>
              <a:t>补 stack unwind 之前，最好先继续细拆 producer 本地路径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514600"/>
            <a:ext cx="4983480" cy="26060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37160" rIns="164592" bIns="137160" rtlCol="0" anchor="ctr"/>
          <a:lstStyle/>
          <a:p>
            <a:pPr algn="ctr"/>
            <a:r>
              <a:rPr sz="1500" b="1">
                <a:solidFill>
                  <a:srgbClr val="182434"/>
                </a:solidFill>
                <a:latin typeface="Microsoft YaHei"/>
              </a:rPr>
              <a:t>Next</a:t>
            </a:r>
          </a:p>
          <a:p>
            <a:pPr>
              <a:spcAft>
                <a:spcPts val="400"/>
              </a:spcAft>
              <a:defRPr sz="1500">
                <a:solidFill>
                  <a:srgbClr val="303842"/>
                </a:solidFill>
                <a:latin typeface="Microsoft YaHei"/>
              </a:defRPr>
            </a:pPr>
            <a:r>
              <a:t>tracking：hash insert / erase 分开测</a:t>
            </a:r>
          </a:p>
          <a:p>
            <a:pPr>
              <a:spcAft>
                <a:spcPts val="400"/>
              </a:spcAft>
              <a:defRPr sz="1500">
                <a:solidFill>
                  <a:srgbClr val="303842"/>
                </a:solidFill>
                <a:latin typeface="Microsoft YaHei"/>
              </a:defRPr>
            </a:pPr>
            <a:r>
              <a:t>metadata：clock_gettime / getpid / gettid 分开测</a:t>
            </a:r>
          </a:p>
          <a:p>
            <a:pPr>
              <a:spcAft>
                <a:spcPts val="400"/>
              </a:spcAft>
              <a:defRPr sz="1500">
                <a:solidFill>
                  <a:srgbClr val="303842"/>
                </a:solidFill>
                <a:latin typeface="Microsoft YaHei"/>
              </a:defRPr>
            </a:pPr>
            <a:r>
              <a:t>ring：只测 shared memory 写和 index 原子更新</a:t>
            </a:r>
          </a:p>
          <a:p>
            <a:pPr>
              <a:spcAft>
                <a:spcPts val="400"/>
              </a:spcAft>
              <a:defRPr sz="1500">
                <a:solidFill>
                  <a:srgbClr val="303842"/>
                </a:solidFill>
                <a:latin typeface="Microsoft YaHei"/>
              </a:defRPr>
            </a:pPr>
            <a:r>
              <a:t>lock：global mutex vs per-thread / sharded 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1908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707986"/>
                </a:solidFill>
                <a:latin typeface="Microsoft YaHei"/>
              </a:rPr>
              <a:t>native_hook Plan B · producer hot-path ablation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none" lIns="73152" tIns="73152" rIns="73152" bIns="73152" anchor="t">
            <a:spAutoFit/>
          </a:bodyPr>
          <a:lstStyle/>
          <a:p>
            <a:pPr algn="r"/>
            <a:r>
              <a:rPr sz="850" b="0">
                <a:solidFill>
                  <a:srgbClr val="707986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601</Words>
  <Application>Microsoft Office PowerPoint</Application>
  <PresentationFormat>宽屏</PresentationFormat>
  <Paragraphs>134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Eden Chen</cp:lastModifiedBy>
  <cp:revision>1</cp:revision>
  <dcterms:created xsi:type="dcterms:W3CDTF">2013-01-27T09:14:16Z</dcterms:created>
  <dcterms:modified xsi:type="dcterms:W3CDTF">2026-05-06T01:55:16Z</dcterms:modified>
  <cp:category/>
</cp:coreProperties>
</file>
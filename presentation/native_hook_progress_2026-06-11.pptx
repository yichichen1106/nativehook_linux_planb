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3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4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环形写入 + 内部锁</c:v>
                </c:pt>
              </c:strCache>
            </c:strRef>
          </c:tx>
          <c:spPr>
            <a:solidFill>
              <a:srgbClr val="2563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1 线程</c:v>
                  </c:pt>
                </c:lvl>
              </c:multiLvlStrCache>
            </c:multiLvl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0.28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eventfd 系统调用</c:v>
                </c:pt>
              </c:strCache>
            </c:strRef>
          </c:tx>
          <c:spPr>
            <a:solidFill>
              <a:srgbClr val="D9770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1 线程</c:v>
                  </c:pt>
                </c:lvl>
              </c:multiLvlStrCache>
            </c:multiLvl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0.54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consumer drain</c:v>
                </c:pt>
              </c:strCache>
            </c:strRef>
          </c:tx>
          <c:spPr>
            <a:solidFill>
              <a:srgbClr val="059669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1 线程</c:v>
                  </c:pt>
                </c:lvl>
              </c:multiLvlStrCache>
            </c:multiLvlStrRef>
          </c:cat>
          <c:val>
            <c:numRef>
              <c:f>Sheet1!$D$2:$D$2</c:f>
              <c:numCache>
                <c:formatCode>General</c:formatCode>
                <c:ptCount val="1"/>
                <c:pt idx="0">
                  <c:v>0.03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"/>
          <c:min val="0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子阶段 34（纯写入）</c:v>
                </c:pt>
              </c:strCache>
            </c:strRef>
          </c:tx>
          <c:spPr>
            <a:solidFill>
              <a:srgbClr val="2563EB"/>
            </a:solidFill>
            <a:ln w="31750" cap="flat">
              <a:solidFill>
                <a:srgbClr val="2563EB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2563EB"/>
              </a:solidFill>
              <a:ln w="9525" cap="flat">
                <a:solidFill>
                  <a:srgbClr val="2563E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1 线程</c:v>
                  </c:pt>
                  <c:pt idx="1">
                    <c:v>4 线程</c:v>
                  </c:pt>
                  <c:pt idx="2">
                    <c:v>8 线程</c:v>
                  </c:pt>
                  <c:pt idx="3">
                    <c:v>16 线程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0.28</c:v>
                </c:pt>
                <c:pt idx="1">
                  <c:v>0.35</c:v>
                </c:pt>
                <c:pt idx="2">
                  <c:v>0.59</c:v>
                </c:pt>
                <c:pt idx="3">
                  <c:v>0.73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子阶段 35（+eventfd）</c:v>
                </c:pt>
              </c:strCache>
            </c:strRef>
          </c:tx>
          <c:spPr>
            <a:solidFill>
              <a:srgbClr val="D97706"/>
            </a:solidFill>
            <a:ln w="31750" cap="flat">
              <a:solidFill>
                <a:srgbClr val="D9770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D97706"/>
              </a:solidFill>
              <a:ln w="9525" cap="flat">
                <a:solidFill>
                  <a:srgbClr val="D9770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1 线程</c:v>
                  </c:pt>
                  <c:pt idx="1">
                    <c:v>4 线程</c:v>
                  </c:pt>
                  <c:pt idx="2">
                    <c:v>8 线程</c:v>
                  </c:pt>
                  <c:pt idx="3">
                    <c:v>16 线程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0.82</c:v>
                </c:pt>
                <c:pt idx="1">
                  <c:v>0.71</c:v>
                </c:pt>
                <c:pt idx="2">
                  <c:v>0.76</c:v>
                </c:pt>
                <c:pt idx="3">
                  <c:v>0.81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子阶段 36（全链路）</c:v>
                </c:pt>
              </c:strCache>
            </c:strRef>
          </c:tx>
          <c:spPr>
            <a:solidFill>
              <a:srgbClr val="059669"/>
            </a:solidFill>
            <a:ln w="31750" cap="flat">
              <a:solidFill>
                <a:srgbClr val="05966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59669"/>
              </a:solidFill>
              <a:ln w="9525" cap="flat">
                <a:solidFill>
                  <a:srgbClr val="05966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1 线程</c:v>
                  </c:pt>
                  <c:pt idx="1">
                    <c:v>4 线程</c:v>
                  </c:pt>
                  <c:pt idx="2">
                    <c:v>8 线程</c:v>
                  </c:pt>
                  <c:pt idx="3">
                    <c:v>16 线程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0.84</c:v>
                </c:pt>
                <c:pt idx="1">
                  <c:v>0.79</c:v>
                </c:pt>
                <c:pt idx="2">
                  <c:v>0.85</c:v>
                </c:pt>
                <c:pt idx="3">
                  <c:v>0.88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LD_PRELOAD（优化后）</c:v>
                </c:pt>
              </c:strCache>
            </c:strRef>
          </c:tx>
          <c:spPr>
            <a:solidFill>
              <a:srgbClr val="2563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1 线程</c:v>
                  </c:pt>
                  <c:pt idx="1">
                    <c:v>4 线程</c:v>
                  </c:pt>
                  <c:pt idx="2">
                    <c:v>8 线程</c:v>
                  </c:pt>
                  <c:pt idx="3">
                    <c:v>16 线程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0.4</c:v>
                </c:pt>
                <c:pt idx="1">
                  <c:v>1.13</c:v>
                </c:pt>
                <c:pt idx="2">
                  <c:v>1.47</c:v>
                </c:pt>
                <c:pt idx="3">
                  <c:v>1.43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eBPF 环形输出</c:v>
                </c:pt>
              </c:strCache>
            </c:strRef>
          </c:tx>
          <c:spPr>
            <a:solidFill>
              <a:srgbClr val="DC262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1 线程</c:v>
                  </c:pt>
                  <c:pt idx="1">
                    <c:v>4 线程</c:v>
                  </c:pt>
                  <c:pt idx="2">
                    <c:v>8 线程</c:v>
                  </c:pt>
                  <c:pt idx="3">
                    <c:v>16 线程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4.28</c:v>
                </c:pt>
                <c:pt idx="1">
                  <c:v>1.13</c:v>
                </c:pt>
                <c:pt idx="2">
                  <c:v>0.92</c:v>
                </c:pt>
                <c:pt idx="3">
                  <c:v>0.78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互斥锁（当前）</c:v>
                </c:pt>
              </c:strCache>
            </c:strRef>
          </c:tx>
          <c:spPr>
            <a:solidFill>
              <a:srgbClr val="64748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4 线程</c:v>
                  </c:pt>
                  <c:pt idx="1">
                    <c:v>16 线程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0.555</c:v>
                </c:pt>
                <c:pt idx="1">
                  <c:v>1.038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分片环形区（新方案）</c:v>
                </c:pt>
              </c:strCache>
            </c:strRef>
          </c:tx>
          <c:spPr>
            <a:solidFill>
              <a:srgbClr val="059669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4 线程</c:v>
                  </c:pt>
                  <c:pt idx="1">
                    <c:v>16 线程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0.345</c:v>
                </c:pt>
                <c:pt idx="1">
                  <c:v>0.727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eBPF 环形输出</c:v>
                </c:pt>
              </c:strCache>
            </c:strRef>
          </c:tx>
          <c:spPr>
            <a:solidFill>
              <a:srgbClr val="DC262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4 线程</c:v>
                  </c:pt>
                  <c:pt idx="1">
                    <c:v>16 线程</c:v>
                  </c:pt>
                </c:lvl>
              </c:multiLvlStrCache>
            </c:multiLvl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1.13</c:v>
                </c:pt>
                <c:pt idx="1">
                  <c:v>0.779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2"/>
          <c:min val="0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463040"/>
            <a:ext cx="112471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native_hook Producer 端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457200" y="2286000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93C5FD"/>
                </a:solidFill>
              </a:rPr>
              <a:t>优化进展与分片环形区提案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4114800" y="3291840"/>
            <a:ext cx="3931920" cy="27432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356616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</a:rPr>
              <a:t>组会汇报  ·  2026.06.11  ·  陈一驰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320040"/>
            <a:ext cx="594360" cy="502920"/>
          </a:xfrm>
          <a:prstGeom prst="rect">
            <a:avLst>
              <a:gd name="adj" fmla="val 14545"/>
            </a:avLst>
          </a:prstGeom>
          <a:solidFill>
            <a:srgbClr val="2563EB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320040"/>
            <a:ext cx="594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325880" y="292608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上次反馈闭环 + 死锁修复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457200" y="1051560"/>
            <a:ext cx="11274552" cy="13716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7" name="Shape 5"/>
          <p:cNvSpPr/>
          <p:nvPr/>
        </p:nvSpPr>
        <p:spPr>
          <a:xfrm>
            <a:off x="457200" y="1234440"/>
            <a:ext cx="5394960" cy="411480"/>
          </a:xfrm>
          <a:prstGeom prst="rect">
            <a:avLst>
              <a:gd name="adj" fmla="val 11111"/>
            </a:avLst>
          </a:prstGeom>
          <a:solidFill>
            <a:srgbClr val="EFF6FF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1234440"/>
            <a:ext cx="5029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563EB"/>
                </a:solidFill>
              </a:rPr>
              <a:t>上次组会遗留问题闭环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02920" y="1920240"/>
            <a:ext cx="411480" cy="411480"/>
          </a:xfrm>
          <a:prstGeom prst="rect">
            <a:avLst>
              <a:gd name="adj" fmla="val 48889"/>
            </a:avLst>
          </a:prstGeom>
          <a:solidFill>
            <a:srgbClr val="2563EB"/>
          </a:solidFill>
          <a:ln/>
        </p:spPr>
      </p:sp>
      <p:sp>
        <p:nvSpPr>
          <p:cNvPr id="10" name="Text 8"/>
          <p:cNvSpPr/>
          <p:nvPr/>
        </p:nvSpPr>
        <p:spPr>
          <a:xfrm>
            <a:off x="502920" y="192024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051560" y="1920240"/>
            <a:ext cx="1188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</a:rPr>
              <a:t>热点定位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2286000" y="1920240"/>
            <a:ext cx="3383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</a:rPr>
              <a:t>ring 共享状态竞争 → 批量发布解决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02920" y="2834640"/>
            <a:ext cx="411480" cy="411480"/>
          </a:xfrm>
          <a:prstGeom prst="rect">
            <a:avLst>
              <a:gd name="adj" fmla="val 48889"/>
            </a:avLst>
          </a:prstGeom>
          <a:solidFill>
            <a:srgbClr val="2563EB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" y="283464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051560" y="2834640"/>
            <a:ext cx="1188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</a:rPr>
              <a:t>代码移植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2286000" y="2834640"/>
            <a:ext cx="3383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</a:rPr>
              <a:t>Gitee fork 到公司 GitLab 并完成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217920" y="1234440"/>
            <a:ext cx="5486400" cy="411480"/>
          </a:xfrm>
          <a:prstGeom prst="rect">
            <a:avLst>
              <a:gd name="adj" fmla="val 11111"/>
            </a:avLst>
          </a:prstGeom>
          <a:solidFill>
            <a:srgbClr val="FEF2F2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0" y="1234440"/>
            <a:ext cx="5120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C2626"/>
                </a:solidFill>
              </a:rPr>
              <a:t>子阶段 36 死锁修复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217920" y="1828800"/>
            <a:ext cx="2468880" cy="1280160"/>
          </a:xfrm>
          <a:prstGeom prst="rect">
            <a:avLst>
              <a:gd name="adj" fmla="val 5714"/>
            </a:avLst>
          </a:prstGeom>
          <a:solidFill>
            <a:srgbClr val="FEF2F2"/>
          </a:solidFill>
          <a:ln/>
        </p:spPr>
      </p:sp>
      <p:sp>
        <p:nvSpPr>
          <p:cNvPr id="20" name="Text 18"/>
          <p:cNvSpPr/>
          <p:nvPr/>
        </p:nvSpPr>
        <p:spPr>
          <a:xfrm>
            <a:off x="6309360" y="18745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C2626"/>
                </a:solidFill>
              </a:rPr>
              <a:t>修复前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309360" y="2194560"/>
            <a:ext cx="2286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8.60s</a:t>
            </a:r>
            <a:endParaRPr lang="en-US" sz="2800" dirty="0"/>
          </a:p>
        </p:txBody>
      </p:sp>
      <p:sp>
        <p:nvSpPr>
          <p:cNvPr id="22" name="Text 20"/>
          <p:cNvSpPr/>
          <p:nvPr/>
        </p:nvSpPr>
        <p:spPr>
          <a:xfrm>
            <a:off x="6309360" y="269748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子阶段 34 · 1 线程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9235440" y="1828800"/>
            <a:ext cx="2468880" cy="1280160"/>
          </a:xfrm>
          <a:prstGeom prst="rect">
            <a:avLst>
              <a:gd name="adj" fmla="val 5714"/>
            </a:avLst>
          </a:prstGeom>
          <a:solidFill>
            <a:srgbClr val="ECFDF5"/>
          </a:solidFill>
          <a:ln/>
        </p:spPr>
      </p:sp>
      <p:sp>
        <p:nvSpPr>
          <p:cNvPr id="24" name="Text 22"/>
          <p:cNvSpPr/>
          <p:nvPr/>
        </p:nvSpPr>
        <p:spPr>
          <a:xfrm>
            <a:off x="9326880" y="18745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59669"/>
                </a:solidFill>
              </a:rPr>
              <a:t>修复后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9326880" y="2194560"/>
            <a:ext cx="2286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596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0.28s</a:t>
            </a:r>
            <a:endParaRPr lang="en-US" sz="2800" dirty="0"/>
          </a:p>
        </p:txBody>
      </p:sp>
      <p:sp>
        <p:nvSpPr>
          <p:cNvPr id="26" name="Text 24"/>
          <p:cNvSpPr/>
          <p:nvPr/>
        </p:nvSpPr>
        <p:spPr>
          <a:xfrm>
            <a:off x="9326880" y="269748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子阶段 34 · 1 线程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8686800" y="2103120"/>
            <a:ext cx="5486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64748B"/>
                </a:solidFill>
              </a:rPr>
              <a:t>→</a:t>
            </a:r>
            <a:endParaRPr lang="en-US" sz="2400" dirty="0"/>
          </a:p>
        </p:txBody>
      </p:sp>
      <p:sp>
        <p:nvSpPr>
          <p:cNvPr id="28" name="Shape 26"/>
          <p:cNvSpPr/>
          <p:nvPr/>
        </p:nvSpPr>
        <p:spPr>
          <a:xfrm>
            <a:off x="6217920" y="3337560"/>
            <a:ext cx="5486400" cy="1280160"/>
          </a:xfrm>
          <a:prstGeom prst="rect">
            <a:avLst>
              <a:gd name="adj" fmla="val 571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16200000">
              <a:srgbClr val="000000">
                <a:alpha val="4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6400800" y="338328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4748B"/>
                </a:solidFill>
              </a:rPr>
              <a:t>根因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400800" y="3611880"/>
            <a:ext cx="5120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</a:rPr>
              <a:t>外层 Lock() + Write() 内部重复加锁同一非递归互斥锁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6400800" y="3931920"/>
            <a:ext cx="5120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C2626"/>
                </a:solidFill>
              </a:rPr>
              <a:t>→ POSIX 未定义行为 → 子阶段 34/35 旧数据作废重采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6400800" y="425196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修复：去掉外层多余的 Lock/Unlock，Write() 内部已有锁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502920" y="5029200"/>
            <a:ext cx="11247120" cy="411480"/>
          </a:xfrm>
          <a:prstGeom prst="rect">
            <a:avLst>
              <a:gd name="adj" fmla="val 13333"/>
            </a:avLst>
          </a:prstGeom>
          <a:solidFill>
            <a:srgbClr val="EFF6FF"/>
          </a:solidFill>
          <a:ln/>
        </p:spPr>
      </p:sp>
      <p:sp>
        <p:nvSpPr>
          <p:cNvPr id="34" name="Text 32"/>
          <p:cNvSpPr/>
          <p:nvPr/>
        </p:nvSpPr>
        <p:spPr>
          <a:xfrm>
            <a:off x="502920" y="5029200"/>
            <a:ext cx="11247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子阶段 28-33 不受影响（HookWriter 锁）· 34/35 数据已修复重采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320040"/>
            <a:ext cx="594360" cy="502920"/>
          </a:xfrm>
          <a:prstGeom prst="rect">
            <a:avLst>
              <a:gd name="adj" fmla="val 14545"/>
            </a:avLst>
          </a:prstGeom>
          <a:solidFill>
            <a:srgbClr val="2563EB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320040"/>
            <a:ext cx="594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325880" y="292608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StackWriter 层三层拆解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325880" y="713232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</a:rPr>
              <a:t>热路径最后一段：环形写入 → eventfd 通知 → consumer drain · 固定 100 万次迭代 · 修复后重采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11274552" cy="13716"/>
          </a:xfrm>
          <a:prstGeom prst="rect">
            <a:avLst/>
          </a:prstGeom>
          <a:solidFill>
            <a:srgbClr val="E2E8F0"/>
          </a:solidFill>
          <a:ln/>
        </p:spPr>
      </p:sp>
      <p:graphicFrame>
        <p:nvGraphicFramePr>
          <p:cNvPr id="8" name="Chart 0" descr=""/>
          <p:cNvGraphicFramePr/>
          <p:nvPr/>
        </p:nvGraphicFramePr>
        <p:xfrm>
          <a:off x="457200" y="1280160"/>
          <a:ext cx="5303520" cy="2377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5943600" y="1371600"/>
            <a:ext cx="5760720" cy="502920"/>
          </a:xfrm>
          <a:prstGeom prst="rect">
            <a:avLst>
              <a:gd name="adj" fmla="val 9091"/>
            </a:avLst>
          </a:prstGeom>
          <a:solidFill>
            <a:srgbClr val="EFF6FF"/>
          </a:solidFill>
          <a:ln/>
        </p:spPr>
      </p:sp>
      <p:sp>
        <p:nvSpPr>
          <p:cNvPr id="10" name="Text 7"/>
          <p:cNvSpPr/>
          <p:nvPr/>
        </p:nvSpPr>
        <p:spPr>
          <a:xfrm>
            <a:off x="6126480" y="1371600"/>
            <a:ext cx="5394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563EB"/>
                </a:solidFill>
              </a:rPr>
              <a:t>环形写入仅 0.28s · 占总量 33%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5943600" y="2011680"/>
            <a:ext cx="5760720" cy="502920"/>
          </a:xfrm>
          <a:prstGeom prst="rect">
            <a:avLst>
              <a:gd name="adj" fmla="val 9091"/>
            </a:avLst>
          </a:prstGeom>
          <a:solidFill>
            <a:srgbClr val="FFFBEB"/>
          </a:solidFill>
          <a:ln/>
        </p:spPr>
      </p:sp>
      <p:sp>
        <p:nvSpPr>
          <p:cNvPr id="12" name="Text 9"/>
          <p:cNvSpPr/>
          <p:nvPr/>
        </p:nvSpPr>
        <p:spPr>
          <a:xfrm>
            <a:off x="6126480" y="2011680"/>
            <a:ext cx="5394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97706"/>
                </a:solidFill>
              </a:rPr>
              <a:t>eventfd 系统调用 0.54s · 占总量 64%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5943600" y="2651760"/>
            <a:ext cx="5760720" cy="502920"/>
          </a:xfrm>
          <a:prstGeom prst="rect">
            <a:avLst>
              <a:gd name="adj" fmla="val 9091"/>
            </a:avLst>
          </a:prstGeom>
          <a:solidFill>
            <a:srgbClr val="ECFDF5"/>
          </a:solidFill>
          <a:ln/>
        </p:spPr>
      </p:sp>
      <p:sp>
        <p:nvSpPr>
          <p:cNvPr id="14" name="Text 11"/>
          <p:cNvSpPr/>
          <p:nvPr/>
        </p:nvSpPr>
        <p:spPr>
          <a:xfrm>
            <a:off x="6126480" y="2651760"/>
            <a:ext cx="5394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59669"/>
                </a:solidFill>
              </a:rPr>
              <a:t>consumer drain 0.03s · 基本免费</a:t>
            </a:r>
            <a:endParaRPr lang="en-US" sz="1300" dirty="0"/>
          </a:p>
        </p:txBody>
      </p:sp>
      <p:graphicFrame>
        <p:nvGraphicFramePr>
          <p:cNvPr id="15" name="Chart 1" descr=""/>
          <p:cNvGraphicFramePr/>
          <p:nvPr/>
        </p:nvGraphicFramePr>
        <p:xfrm>
          <a:off x="457200" y="3566160"/>
          <a:ext cx="11247120" cy="2743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6" name="Shape 12"/>
          <p:cNvSpPr/>
          <p:nvPr/>
        </p:nvSpPr>
        <p:spPr>
          <a:xfrm>
            <a:off x="502920" y="6446520"/>
            <a:ext cx="11247120" cy="411480"/>
          </a:xfrm>
          <a:prstGeom prst="rect">
            <a:avLst>
              <a:gd name="adj" fmla="val 13333"/>
            </a:avLst>
          </a:prstGeom>
          <a:solidFill>
            <a:srgbClr val="EFF6FF"/>
          </a:solidFill>
          <a:ln/>
        </p:spPr>
      </p:sp>
      <p:sp>
        <p:nvSpPr>
          <p:cNvPr id="17" name="Text 13"/>
          <p:cNvSpPr/>
          <p:nvPr/>
        </p:nvSpPr>
        <p:spPr>
          <a:xfrm>
            <a:off x="502920" y="6446520"/>
            <a:ext cx="11247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eventfd 系统调用是最大单一开销（65%）· consumer drain几乎免费 · 子阶段 35/36 线程扩展平坦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320040"/>
            <a:ext cx="594360" cy="502920"/>
          </a:xfrm>
          <a:prstGeom prst="rect">
            <a:avLst>
              <a:gd name="adj" fmla="val 14545"/>
            </a:avLst>
          </a:prstGeom>
          <a:solidFill>
            <a:srgbClr val="2563EB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320040"/>
            <a:ext cx="594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325880" y="292608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三项否定实验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325880" y="713232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</a:rPr>
              <a:t>均指向同一结论：共享状态是根因，换锁不够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11274552" cy="13716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8" name="Shape 6"/>
          <p:cNvSpPr/>
          <p:nvPr/>
        </p:nvSpPr>
        <p:spPr>
          <a:xfrm>
            <a:off x="502920" y="1280160"/>
            <a:ext cx="3566160" cy="3474720"/>
          </a:xfrm>
          <a:prstGeom prst="rect">
            <a:avLst>
              <a:gd name="adj" fmla="val 263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162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02920" y="1417320"/>
            <a:ext cx="3566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✗</a:t>
            </a:r>
            <a:endParaRPr lang="en-US" sz="3600" dirty="0"/>
          </a:p>
        </p:txBody>
      </p:sp>
      <p:sp>
        <p:nvSpPr>
          <p:cNvPr id="10" name="Text 8"/>
          <p:cNvSpPr/>
          <p:nvPr/>
        </p:nvSpPr>
        <p:spPr>
          <a:xfrm>
            <a:off x="685800" y="205740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93B"/>
                </a:solidFill>
              </a:rPr>
              <a:t>批量发布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685800" y="246888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buffer + batch write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777240" y="2971800"/>
            <a:ext cx="3017520" cy="502920"/>
          </a:xfrm>
          <a:prstGeom prst="rect">
            <a:avLst>
              <a:gd name="adj" fmla="val 9091"/>
            </a:avLst>
          </a:prstGeom>
          <a:solidFill>
            <a:srgbClr val="FEF2F2"/>
          </a:solidFill>
          <a:ln/>
        </p:spPr>
      </p:sp>
      <p:sp>
        <p:nvSpPr>
          <p:cNvPr id="13" name="Text 11"/>
          <p:cNvSpPr/>
          <p:nvPr/>
        </p:nvSpPr>
        <p:spPr>
          <a:xfrm>
            <a:off x="868680" y="2971800"/>
            <a:ext cx="2834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C2626"/>
                </a:solidFill>
              </a:rPr>
              <a:t>batch 4~64 全在噪声内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85800" y="3657600"/>
            <a:ext cx="32004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内部锁临界区仅 25ns，省无可省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297680" y="1280160"/>
            <a:ext cx="3566160" cy="3474720"/>
          </a:xfrm>
          <a:prstGeom prst="rect">
            <a:avLst>
              <a:gd name="adj" fmla="val 263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16200000">
              <a:srgbClr val="000000">
                <a:alpha val="8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4297680" y="1417320"/>
            <a:ext cx="3566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✗</a:t>
            </a:r>
            <a:endParaRPr lang="en-US" sz="3600" dirty="0"/>
          </a:p>
        </p:txBody>
      </p:sp>
      <p:sp>
        <p:nvSpPr>
          <p:cNvPr id="17" name="Text 15"/>
          <p:cNvSpPr/>
          <p:nvPr/>
        </p:nvSpPr>
        <p:spPr>
          <a:xfrm>
            <a:off x="4480560" y="205740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93B"/>
                </a:solidFill>
              </a:rPr>
              <a:t>锁延迟模拟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4480560" y="246888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临界区注入忙等 0→1000ns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572000" y="2971800"/>
            <a:ext cx="3017520" cy="502920"/>
          </a:xfrm>
          <a:prstGeom prst="rect">
            <a:avLst>
              <a:gd name="adj" fmla="val 9091"/>
            </a:avLst>
          </a:prstGeom>
          <a:solidFill>
            <a:srgbClr val="FEF2F2"/>
          </a:solidFill>
          <a:ln/>
        </p:spPr>
      </p:sp>
      <p:sp>
        <p:nvSpPr>
          <p:cNvPr id="20" name="Text 18"/>
          <p:cNvSpPr/>
          <p:nvPr/>
        </p:nvSpPr>
        <p:spPr>
          <a:xfrm>
            <a:off x="4663440" y="2971800"/>
            <a:ext cx="2834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C2626"/>
                </a:solidFill>
              </a:rPr>
              <a:t>16线/1线竞争比始终 ~3×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480560" y="3657600"/>
            <a:ext cx="32004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锁持有时间不是瓶颈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8092440" y="1280160"/>
            <a:ext cx="3566160" cy="3474720"/>
          </a:xfrm>
          <a:prstGeom prst="rect">
            <a:avLst>
              <a:gd name="adj" fmla="val 263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16200000">
              <a:srgbClr val="000000">
                <a:alpha val="8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8092440" y="1417320"/>
            <a:ext cx="3566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△</a:t>
            </a:r>
            <a:endParaRPr lang="en-US" sz="3600" dirty="0"/>
          </a:p>
        </p:txBody>
      </p:sp>
      <p:sp>
        <p:nvSpPr>
          <p:cNvPr id="24" name="Text 22"/>
          <p:cNvSpPr/>
          <p:nvPr/>
        </p:nvSpPr>
        <p:spPr>
          <a:xfrm>
            <a:off x="8275320" y="205740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93B"/>
                </a:solidFill>
              </a:rPr>
              <a:t>原子操作替代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8275320" y="246888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CAS 替换互斥锁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8366760" y="2971800"/>
            <a:ext cx="3017520" cy="502920"/>
          </a:xfrm>
          <a:prstGeom prst="rect">
            <a:avLst>
              <a:gd name="adj" fmla="val 9091"/>
            </a:avLst>
          </a:prstGeom>
          <a:solidFill>
            <a:srgbClr val="FEF2F2"/>
          </a:solidFill>
          <a:ln/>
        </p:spPr>
      </p:sp>
      <p:sp>
        <p:nvSpPr>
          <p:cNvPr id="27" name="Text 25"/>
          <p:cNvSpPr/>
          <p:nvPr/>
        </p:nvSpPr>
        <p:spPr>
          <a:xfrm>
            <a:off x="8458200" y="2971800"/>
            <a:ext cx="2834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C2626"/>
                </a:solidFill>
              </a:rPr>
              <a:t>4线 +32%，8线以上无效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8275320" y="3657600"/>
            <a:ext cx="32004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重试时的缓存行抖动 = 互斥锁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502920" y="5303520"/>
            <a:ext cx="5029200" cy="411480"/>
          </a:xfrm>
          <a:prstGeom prst="rect">
            <a:avLst>
              <a:gd name="adj" fmla="val 13333"/>
            </a:avLst>
          </a:prstGeom>
          <a:solidFill>
            <a:srgbClr val="FEF2F2"/>
          </a:solidFill>
          <a:ln/>
        </p:spPr>
      </p:sp>
      <p:sp>
        <p:nvSpPr>
          <p:cNvPr id="30" name="Text 28"/>
          <p:cNvSpPr/>
          <p:nvPr/>
        </p:nvSpPr>
        <p:spPr>
          <a:xfrm>
            <a:off x="502920" y="5303520"/>
            <a:ext cx="5029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需要消除共享状态，而不是换一种锁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320040"/>
            <a:ext cx="594360" cy="502920"/>
          </a:xfrm>
          <a:prstGeom prst="rect">
            <a:avLst>
              <a:gd name="adj" fmla="val 14545"/>
            </a:avLst>
          </a:prstGeom>
          <a:solidFill>
            <a:srgbClr val="2563EB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320040"/>
            <a:ext cx="594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325880" y="292608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Consumer 耗时分析（排除法）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457200" y="1051560"/>
            <a:ext cx="11274552" cy="13716"/>
          </a:xfrm>
          <a:prstGeom prst="rect">
            <a:avLst/>
          </a:prstGeom>
          <a:solidFill>
            <a:srgbClr val="E2E8F0"/>
          </a:solidFill>
          <a:ln/>
        </p:spPr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280160"/>
          <a:ext cx="11247120" cy="914400"/>
        </p:xfrm>
        <a:graphic>
          <a:graphicData uri="http://schemas.openxmlformats.org/drawingml/2006/table">
            <a:tbl>
              <a:tblPr/>
              <a:tblGrid>
                <a:gridCol w="4572000"/>
                <a:gridCol w="3657600"/>
                <a:gridCol w="301752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阶段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每次 wakeup 耗时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占比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eventfd read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3961 ns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66%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ring drain（遍历 ~20 条）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423 ns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7%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printf 输出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1610 ns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27%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3200400"/>
          <a:ext cx="11247120" cy="914400"/>
        </p:xfrm>
        <a:graphic>
          <a:graphicData uri="http://schemas.openxmlformats.org/drawingml/2006/table">
            <a:tbl>
              <a:tblPr/>
              <a:tblGrid>
                <a:gridCol w="2249424"/>
                <a:gridCol w="2249424"/>
                <a:gridCol w="2249424"/>
                <a:gridCol w="2249424"/>
                <a:gridCol w="2249424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flush_threshold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  (per-record)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1.058s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0.966s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1.125s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1.093s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20 (OH FLUSH_FLAG)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0.318s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0.929s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0.941s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1.033s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50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0.282s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0.426s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0.982s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1.046s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200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0.244s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0.451s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0.957s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0.975s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502920" y="5486400"/>
            <a:ext cx="8229600" cy="411480"/>
          </a:xfrm>
          <a:prstGeom prst="rect">
            <a:avLst>
              <a:gd name="adj" fmla="val 13333"/>
            </a:avLst>
          </a:prstGeom>
          <a:solidFill>
            <a:srgbClr val="ECFDF5"/>
          </a:solidFill>
          <a:ln/>
        </p:spPr>
      </p:sp>
      <p:sp>
        <p:nvSpPr>
          <p:cNvPr id="10" name="Text 6"/>
          <p:cNvSpPr/>
          <p:nvPr/>
        </p:nvSpPr>
        <p:spPr>
          <a:xfrm>
            <a:off x="502920" y="548640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Consumer drain 几乎免费 · OH FLUSH_FLAG=20 合理 · 提至 50 可省 12%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320040"/>
            <a:ext cx="594360" cy="502920"/>
          </a:xfrm>
          <a:prstGeom prst="rect">
            <a:avLst>
              <a:gd name="adj" fmla="val 14545"/>
            </a:avLst>
          </a:prstGeom>
          <a:solidFill>
            <a:srgbClr val="2563EB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320040"/>
            <a:ext cx="594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325880" y="292608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eBPF vs LD_PRELOAD 重对比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325880" y="713232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</a:rPr>
              <a:t>优化后 LD_PRELOAD 与 eBPF 环形输出模式，100 万次迭代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11274552" cy="13716"/>
          </a:xfrm>
          <a:prstGeom prst="rect">
            <a:avLst/>
          </a:prstGeom>
          <a:solidFill>
            <a:srgbClr val="E2E8F0"/>
          </a:solidFill>
          <a:ln/>
        </p:spPr>
      </p:sp>
      <p:graphicFrame>
        <p:nvGraphicFramePr>
          <p:cNvPr id="8" name="Chart 0" descr=""/>
          <p:cNvGraphicFramePr/>
          <p:nvPr/>
        </p:nvGraphicFramePr>
        <p:xfrm>
          <a:off x="457200" y="1280160"/>
          <a:ext cx="7772400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8686800" y="1463040"/>
            <a:ext cx="3017520" cy="502920"/>
          </a:xfrm>
          <a:prstGeom prst="rect">
            <a:avLst>
              <a:gd name="adj" fmla="val 9091"/>
            </a:avLst>
          </a:prstGeom>
          <a:solidFill>
            <a:srgbClr val="EFF6FF"/>
          </a:solidFill>
          <a:ln/>
        </p:spPr>
      </p:sp>
      <p:sp>
        <p:nvSpPr>
          <p:cNvPr id="10" name="Text 7"/>
          <p:cNvSpPr/>
          <p:nvPr/>
        </p:nvSpPr>
        <p:spPr>
          <a:xfrm>
            <a:off x="8869680" y="1463040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563EB"/>
                </a:solidFill>
              </a:rPr>
              <a:t>1T: LD 碾压 10.8×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8686800" y="2194560"/>
            <a:ext cx="3017520" cy="502920"/>
          </a:xfrm>
          <a:prstGeom prst="rect">
            <a:avLst>
              <a:gd name="adj" fmla="val 9091"/>
            </a:avLst>
          </a:prstGeom>
          <a:solidFill>
            <a:srgbClr val="FFFFFF"/>
          </a:solidFill>
          <a:ln/>
        </p:spPr>
      </p:sp>
      <p:sp>
        <p:nvSpPr>
          <p:cNvPr id="12" name="Text 9"/>
          <p:cNvSpPr/>
          <p:nvPr/>
        </p:nvSpPr>
        <p:spPr>
          <a:xfrm>
            <a:off x="8869680" y="2194560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</a:rPr>
              <a:t>4T: 平手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8686800" y="2926080"/>
            <a:ext cx="3017520" cy="502920"/>
          </a:xfrm>
          <a:prstGeom prst="rect">
            <a:avLst>
              <a:gd name="adj" fmla="val 9091"/>
            </a:avLst>
          </a:prstGeom>
          <a:solidFill>
            <a:srgbClr val="FEF2F2"/>
          </a:solidFill>
          <a:ln/>
        </p:spPr>
      </p:sp>
      <p:sp>
        <p:nvSpPr>
          <p:cNvPr id="14" name="Text 11"/>
          <p:cNvSpPr/>
          <p:nvPr/>
        </p:nvSpPr>
        <p:spPr>
          <a:xfrm>
            <a:off x="8869680" y="2926080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C2626"/>
                </a:solidFill>
              </a:rPr>
              <a:t>8T: eBPF 快 1.6×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8686800" y="3657600"/>
            <a:ext cx="3017520" cy="502920"/>
          </a:xfrm>
          <a:prstGeom prst="rect">
            <a:avLst>
              <a:gd name="adj" fmla="val 9091"/>
            </a:avLst>
          </a:prstGeom>
          <a:solidFill>
            <a:srgbClr val="FEF2F2"/>
          </a:solidFill>
          <a:ln/>
        </p:spPr>
      </p:sp>
      <p:sp>
        <p:nvSpPr>
          <p:cNvPr id="16" name="Text 13"/>
          <p:cNvSpPr/>
          <p:nvPr/>
        </p:nvSpPr>
        <p:spPr>
          <a:xfrm>
            <a:off x="8869680" y="3657600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C2626"/>
                </a:solidFill>
              </a:rPr>
              <a:t>16T: eBPF 快 1.8×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502920" y="5486400"/>
            <a:ext cx="11247120" cy="411480"/>
          </a:xfrm>
          <a:prstGeom prst="rect">
            <a:avLst>
              <a:gd name="adj" fmla="val 13333"/>
            </a:avLst>
          </a:prstGeom>
          <a:solidFill>
            <a:srgbClr val="EFF6FF"/>
          </a:solidFill>
          <a:ln/>
        </p:spPr>
      </p:sp>
      <p:sp>
        <p:nvSpPr>
          <p:cNvPr id="18" name="Text 15"/>
          <p:cNvSpPr/>
          <p:nvPr/>
        </p:nvSpPr>
        <p:spPr>
          <a:xfrm>
            <a:off x="502920" y="5486400"/>
            <a:ext cx="11247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旧 8T: LD 3.12s vs eBPF 1.71s（1.8×）→ 新: 1.47s vs 0.92s（1.6×）  差距缩小但趋势不变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320040"/>
            <a:ext cx="594360" cy="502920"/>
          </a:xfrm>
          <a:prstGeom prst="rect">
            <a:avLst>
              <a:gd name="adj" fmla="val 14545"/>
            </a:avLst>
          </a:prstGeom>
          <a:solidFill>
            <a:srgbClr val="2563EB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320040"/>
            <a:ext cx="594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325880" y="292608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架构对比：LD_PRELOAD + Sharded Ring vs eBPF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457200" y="1051560"/>
            <a:ext cx="11274552" cy="13716"/>
          </a:xfrm>
          <a:prstGeom prst="rect">
            <a:avLst/>
          </a:prstGeom>
          <a:solidFill>
            <a:srgbClr val="E2E8F0"/>
          </a:solidFill>
          <a:ln/>
        </p:spPr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371600"/>
          <a:ext cx="11247120" cy="914400"/>
        </p:xfrm>
        <a:graphic>
          <a:graphicData uri="http://schemas.openxmlformats.org/drawingml/2006/table">
            <a:tbl>
              <a:tblPr/>
              <a:tblGrid>
                <a:gridCol w="3749040"/>
                <a:gridCol w="3749040"/>
                <a:gridCol w="374904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对比维度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LD_PRELOAD + Sharded Ring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eBPF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无锁 ring write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TID-based per-CPU shard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per-CPU ringbuf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FpUnwind 栈回溯 (aarch64)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✓ 完整支持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✗ 不能做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AddressHandler 追踪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✓ 完整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⚠ BPF map 受限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部署方式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LD_PRELOAD (已有)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需 root + BPF 权限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原型 16T sub=36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0.727s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0.779s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功能完整度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无损失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损失 FpUnwind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594360" y="4754880"/>
            <a:ext cx="109728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500" b="1" dirty="0">
                <a:solidFill>
                  <a:srgbClr val="2563EB"/>
                </a:solidFill>
              </a:rPr>
              <a:t>结论：不需要引入 eBPF。Sharded ring 在保留全部功能的前提下，性能和部署都优于 eBPF。</a:t>
            </a:r>
            <a:endParaRPr lang="en-US" sz="1500" dirty="0"/>
          </a:p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400" dirty="0">
                <a:solidFill>
                  <a:srgbClr val="334155"/>
                </a:solidFill>
              </a:rPr>
              <a:t>eBPF 的沙箱限制（不能调用户态函数、不能做栈回溯）让它无法完整替代 hook 热路径</a:t>
            </a:r>
            <a:endParaRPr lang="en-US" sz="1500" dirty="0"/>
          </a:p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400" dirty="0">
                <a:solidFill>
                  <a:srgbClr val="334155"/>
                </a:solidFill>
              </a:rPr>
              <a:t>而 sharded ring 直接在现有 LD_PRELOAD 架构上消除了共享锁竞争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320040"/>
            <a:ext cx="594360" cy="502920"/>
          </a:xfrm>
          <a:prstGeom prst="rect">
            <a:avLst>
              <a:gd name="adj" fmla="val 14545"/>
            </a:avLst>
          </a:prstGeom>
          <a:solidFill>
            <a:srgbClr val="2563EB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320040"/>
            <a:ext cx="594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325880" y="292608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OH 代码改动提案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325880" y="713232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</a:rPr>
              <a:t>三个改动点 · 集中在 StackWriter 层 · 不影响上层 hook 函数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11274552" cy="13716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123444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4748B"/>
                </a:solidFill>
              </a:rPr>
              <a:t>当前：地址分片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65760" y="1554480"/>
            <a:ext cx="1645920" cy="457200"/>
          </a:xfrm>
          <a:prstGeom prst="rect">
            <a:avLst>
              <a:gd name="adj" fmla="val 10000"/>
            </a:avLst>
          </a:prstGeom>
          <a:solidFill>
            <a:srgbClr val="EFF6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5760" y="155448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hook_malloc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FpUnwind + fill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2240280" y="1554480"/>
            <a:ext cx="228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</a:rPr>
              <a:t>→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2468880" y="1554480"/>
            <a:ext cx="1828800" cy="457200"/>
          </a:xfrm>
          <a:prstGeom prst="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468880" y="155448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SendStackWithPayload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addr % N → Block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246120" y="1353312"/>
            <a:ext cx="256032" cy="256032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15" name="Text 13"/>
          <p:cNvSpPr/>
          <p:nvPr/>
        </p:nvSpPr>
        <p:spPr>
          <a:xfrm>
            <a:off x="3246120" y="1353312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526280" y="1554480"/>
            <a:ext cx="228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</a:rPr>
              <a:t>→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754880" y="1554480"/>
            <a:ext cx="1645920" cy="457200"/>
          </a:xfrm>
          <a:prstGeom prst="rect">
            <a:avLst>
              <a:gd name="adj" fmla="val 10000"/>
            </a:avLst>
          </a:prstGeom>
          <a:solidFill>
            <a:srgbClr val="FFFBEB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754880" y="155448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ShareMemoryBlock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内部全局锁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440680" y="1353312"/>
            <a:ext cx="256032" cy="256032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20" name="Text 18"/>
          <p:cNvSpPr/>
          <p:nvPr/>
        </p:nvSpPr>
        <p:spPr>
          <a:xfrm>
            <a:off x="5440680" y="1353312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6629400" y="1554480"/>
            <a:ext cx="228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</a:rPr>
              <a:t>→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6858000" y="1554480"/>
            <a:ext cx="1828800" cy="457200"/>
          </a:xfrm>
          <a:prstGeom prst="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58000" y="155448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PrepareFlush / Flush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global counter → Post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635240" y="1353312"/>
            <a:ext cx="256032" cy="256032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25" name="Text 23"/>
          <p:cNvSpPr/>
          <p:nvPr/>
        </p:nvSpPr>
        <p:spPr>
          <a:xfrm>
            <a:off x="7635240" y="1353312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8915400" y="1554480"/>
            <a:ext cx="228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</a:rPr>
              <a:t>→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9144000" y="1554480"/>
            <a:ext cx="2011680" cy="457200"/>
          </a:xfrm>
          <a:prstGeom prst="rect">
            <a:avLst>
              <a:gd name="adj" fmla="val 10000"/>
            </a:avLst>
          </a:prstGeom>
          <a:solidFill>
            <a:srgbClr val="ECFDF5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144000" y="1554480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Consumer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单个环形区遍历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5669280" y="2194560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563EB"/>
                </a:solidFill>
              </a:rPr>
              <a:t>↓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457200" y="2560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59669"/>
                </a:solidFill>
              </a:rPr>
              <a:t>改为：线程分片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2880360"/>
            <a:ext cx="1645920" cy="457200"/>
          </a:xfrm>
          <a:prstGeom prst="rect">
            <a:avLst>
              <a:gd name="adj" fmla="val 10000"/>
            </a:avLst>
          </a:prstGeom>
          <a:solidFill>
            <a:srgbClr val="EFF6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5760" y="28803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hook_malloc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FpUnwind + fill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2240280" y="2880360"/>
            <a:ext cx="228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</a:rPr>
              <a:t>→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2468880" y="2880360"/>
            <a:ext cx="1828800" cy="457200"/>
          </a:xfrm>
          <a:prstGeom prst="rect">
            <a:avLst>
              <a:gd name="adj" fmla="val 10000"/>
            </a:avLst>
          </a:prstGeom>
          <a:solidFill>
            <a:srgbClr val="ECFDF5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468880" y="288036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SendStackWithPayload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tid % N → Block[shard]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3246120" y="2679192"/>
            <a:ext cx="256032" cy="256032"/>
          </a:xfrm>
          <a:prstGeom prst="ellipse">
            <a:avLst/>
          </a:prstGeom>
          <a:solidFill>
            <a:srgbClr val="059669"/>
          </a:solidFill>
          <a:ln/>
        </p:spPr>
      </p:sp>
      <p:sp>
        <p:nvSpPr>
          <p:cNvPr id="37" name="Text 35"/>
          <p:cNvSpPr/>
          <p:nvPr/>
        </p:nvSpPr>
        <p:spPr>
          <a:xfrm>
            <a:off x="3246120" y="2679192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4526280" y="2880360"/>
            <a:ext cx="228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</a:rPr>
              <a:t>→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4754880" y="2880360"/>
            <a:ext cx="1645920" cy="457200"/>
          </a:xfrm>
          <a:prstGeom prst="rect">
            <a:avLst>
              <a:gd name="adj" fmla="val 10000"/>
            </a:avLst>
          </a:prstGeom>
          <a:solidFill>
            <a:srgbClr val="ECFDF5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754880" y="28803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ShareMemoryBlock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shard 内无锁写入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5440680" y="2679192"/>
            <a:ext cx="256032" cy="256032"/>
          </a:xfrm>
          <a:prstGeom prst="ellipse">
            <a:avLst/>
          </a:prstGeom>
          <a:solidFill>
            <a:srgbClr val="059669"/>
          </a:solidFill>
          <a:ln/>
        </p:spPr>
      </p:sp>
      <p:sp>
        <p:nvSpPr>
          <p:cNvPr id="42" name="Text 40"/>
          <p:cNvSpPr/>
          <p:nvPr/>
        </p:nvSpPr>
        <p:spPr>
          <a:xfrm>
            <a:off x="5440680" y="2679192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6629400" y="2880360"/>
            <a:ext cx="228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</a:rPr>
              <a:t>→</a:t>
            </a:r>
            <a:endParaRPr lang="en-US" sz="1400" dirty="0"/>
          </a:p>
        </p:txBody>
      </p:sp>
      <p:sp>
        <p:nvSpPr>
          <p:cNvPr id="44" name="Shape 42"/>
          <p:cNvSpPr/>
          <p:nvPr/>
        </p:nvSpPr>
        <p:spPr>
          <a:xfrm>
            <a:off x="6858000" y="2880360"/>
            <a:ext cx="1828800" cy="457200"/>
          </a:xfrm>
          <a:prstGeom prst="rect">
            <a:avLst>
              <a:gd name="adj" fmla="val 10000"/>
            </a:avLst>
          </a:prstGeom>
          <a:solidFill>
            <a:srgbClr val="ECFDF5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858000" y="288036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PrepareFlush / Flush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per-shard counter → Post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7635240" y="2679192"/>
            <a:ext cx="256032" cy="256032"/>
          </a:xfrm>
          <a:prstGeom prst="ellipse">
            <a:avLst/>
          </a:prstGeom>
          <a:solidFill>
            <a:srgbClr val="059669"/>
          </a:solidFill>
          <a:ln/>
        </p:spPr>
      </p:sp>
      <p:sp>
        <p:nvSpPr>
          <p:cNvPr id="47" name="Text 45"/>
          <p:cNvSpPr/>
          <p:nvPr/>
        </p:nvSpPr>
        <p:spPr>
          <a:xfrm>
            <a:off x="7635240" y="2679192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8915400" y="2880360"/>
            <a:ext cx="228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</a:rPr>
              <a:t>→</a:t>
            </a:r>
            <a:endParaRPr lang="en-US" sz="1400" dirty="0"/>
          </a:p>
        </p:txBody>
      </p:sp>
      <p:sp>
        <p:nvSpPr>
          <p:cNvPr id="49" name="Shape 47"/>
          <p:cNvSpPr/>
          <p:nvPr/>
        </p:nvSpPr>
        <p:spPr>
          <a:xfrm>
            <a:off x="9144000" y="2880360"/>
            <a:ext cx="2011680" cy="457200"/>
          </a:xfrm>
          <a:prstGeom prst="rect">
            <a:avLst>
              <a:gd name="adj" fmla="val 10000"/>
            </a:avLst>
          </a:prstGeom>
          <a:solidFill>
            <a:srgbClr val="ECFDF5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9144000" y="2880360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Consumer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轮询所有分片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640080" y="3803904"/>
            <a:ext cx="256032" cy="256032"/>
          </a:xfrm>
          <a:prstGeom prst="ellipse">
            <a:avLst/>
          </a:prstGeom>
          <a:solidFill>
            <a:srgbClr val="059669"/>
          </a:solidFill>
          <a:ln/>
        </p:spPr>
      </p:sp>
      <p:sp>
        <p:nvSpPr>
          <p:cNvPr id="52" name="Text 50"/>
          <p:cNvSpPr/>
          <p:nvPr/>
        </p:nvSpPr>
        <p:spPr>
          <a:xfrm>
            <a:off x="640080" y="3803904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900" dirty="0"/>
          </a:p>
        </p:txBody>
      </p:sp>
      <p:sp>
        <p:nvSpPr>
          <p:cNvPr id="53" name="Text 51"/>
          <p:cNvSpPr/>
          <p:nvPr/>
        </p:nvSpPr>
        <p:spPr>
          <a:xfrm>
            <a:off x="1051560" y="3749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</a:rPr>
              <a:t>hook_client.cpp:628 — addr % N → tid % N + thread_local 缓存 TID</a:t>
            </a:r>
            <a:endParaRPr lang="en-US" sz="1100" dirty="0"/>
          </a:p>
        </p:txBody>
      </p:sp>
      <p:sp>
        <p:nvSpPr>
          <p:cNvPr id="54" name="Shape 52"/>
          <p:cNvSpPr/>
          <p:nvPr/>
        </p:nvSpPr>
        <p:spPr>
          <a:xfrm>
            <a:off x="640080" y="4215384"/>
            <a:ext cx="256032" cy="256032"/>
          </a:xfrm>
          <a:prstGeom prst="ellipse">
            <a:avLst/>
          </a:prstGeom>
          <a:solidFill>
            <a:srgbClr val="059669"/>
          </a:solidFill>
          <a:ln/>
        </p:spPr>
      </p:sp>
      <p:sp>
        <p:nvSpPr>
          <p:cNvPr id="55" name="Text 53"/>
          <p:cNvSpPr/>
          <p:nvPr/>
        </p:nvSpPr>
        <p:spPr>
          <a:xfrm>
            <a:off x="640080" y="4215384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900" dirty="0"/>
          </a:p>
        </p:txBody>
      </p:sp>
      <p:sp>
        <p:nvSpPr>
          <p:cNvPr id="56" name="Text 54"/>
          <p:cNvSpPr/>
          <p:nvPr/>
        </p:nvSpPr>
        <p:spPr>
          <a:xfrm>
            <a:off x="1051560" y="41605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</a:rPr>
              <a:t>stack_writer.cpp:89 — PutWithPayloadTimeout 新增 shard_idx 参数，内部无锁</a:t>
            </a:r>
            <a:endParaRPr lang="en-US" sz="1100" dirty="0"/>
          </a:p>
        </p:txBody>
      </p:sp>
      <p:sp>
        <p:nvSpPr>
          <p:cNvPr id="57" name="Shape 55"/>
          <p:cNvSpPr/>
          <p:nvPr/>
        </p:nvSpPr>
        <p:spPr>
          <a:xfrm>
            <a:off x="640080" y="4626864"/>
            <a:ext cx="256032" cy="256032"/>
          </a:xfrm>
          <a:prstGeom prst="ellipse">
            <a:avLst/>
          </a:prstGeom>
          <a:solidFill>
            <a:srgbClr val="059669"/>
          </a:solidFill>
          <a:ln/>
        </p:spPr>
      </p:sp>
      <p:sp>
        <p:nvSpPr>
          <p:cNvPr id="58" name="Text 56"/>
          <p:cNvSpPr/>
          <p:nvPr/>
        </p:nvSpPr>
        <p:spPr>
          <a:xfrm>
            <a:off x="640080" y="4626864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900" dirty="0"/>
          </a:p>
        </p:txBody>
      </p:sp>
      <p:sp>
        <p:nvSpPr>
          <p:cNvPr id="59" name="Text 57"/>
          <p:cNvSpPr/>
          <p:nvPr/>
        </p:nvSpPr>
        <p:spPr>
          <a:xfrm>
            <a:off x="1051560" y="457200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</a:rPr>
              <a:t>stack_writer.cpp:94 — PrepareFlush/Flush 每 shard 独立计数，汇总 Post</a:t>
            </a:r>
            <a:endParaRPr lang="en-US" sz="1100" dirty="0"/>
          </a:p>
        </p:txBody>
      </p:sp>
      <p:sp>
        <p:nvSpPr>
          <p:cNvPr id="60" name="Shape 58"/>
          <p:cNvSpPr/>
          <p:nvPr/>
        </p:nvSpPr>
        <p:spPr>
          <a:xfrm>
            <a:off x="502920" y="5394960"/>
            <a:ext cx="11247120" cy="411480"/>
          </a:xfrm>
          <a:prstGeom prst="rect">
            <a:avLst>
              <a:gd name="adj" fmla="val 13333"/>
            </a:avLst>
          </a:prstGeom>
          <a:solidFill>
            <a:srgbClr val="EFF6FF"/>
          </a:solidFill>
          <a:ln/>
        </p:spPr>
      </p:sp>
      <p:sp>
        <p:nvSpPr>
          <p:cNvPr id="61" name="Text 59"/>
          <p:cNvSpPr/>
          <p:nvPr/>
        </p:nvSpPr>
        <p:spPr>
          <a:xfrm>
            <a:off x="502920" y="5394960"/>
            <a:ext cx="11247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改动集中在 StackWriter 层 · 不影响 hook_malloc/hook_free · num_shards=0 时向后兼容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320040"/>
            <a:ext cx="594360" cy="502920"/>
          </a:xfrm>
          <a:prstGeom prst="rect">
            <a:avLst>
              <a:gd name="adj" fmla="val 14545"/>
            </a:avLst>
          </a:prstGeom>
          <a:solidFill>
            <a:srgbClr val="2563EB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320040"/>
            <a:ext cx="594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325880" y="292608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分片环形区 — 突破性发现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325880" y="713232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</a:rPr>
              <a:t>基于线程 ID 的每核分片，完全无锁写入 · 子阶段 36 全链路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11274552" cy="13716"/>
          </a:xfrm>
          <a:prstGeom prst="rect">
            <a:avLst/>
          </a:prstGeom>
          <a:solidFill>
            <a:srgbClr val="E2E8F0"/>
          </a:solidFill>
          <a:ln/>
        </p:spPr>
      </p:sp>
      <p:graphicFrame>
        <p:nvGraphicFramePr>
          <p:cNvPr id="8" name="Chart 0" descr=""/>
          <p:cNvGraphicFramePr/>
          <p:nvPr/>
        </p:nvGraphicFramePr>
        <p:xfrm>
          <a:off x="457200" y="1280160"/>
          <a:ext cx="731520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8229600" y="1463040"/>
            <a:ext cx="3474720" cy="822960"/>
          </a:xfrm>
          <a:prstGeom prst="rect">
            <a:avLst>
              <a:gd name="adj" fmla="val 8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12700" dir="16200000">
              <a:srgbClr val="000000">
                <a:alpha val="5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8412480" y="150876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596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↓ 39%</a:t>
            </a:r>
            <a:endParaRPr lang="en-US" sz="2400" dirty="0"/>
          </a:p>
        </p:txBody>
      </p:sp>
      <p:sp>
        <p:nvSpPr>
          <p:cNvPr id="11" name="Text 8"/>
          <p:cNvSpPr/>
          <p:nvPr/>
        </p:nvSpPr>
        <p:spPr>
          <a:xfrm>
            <a:off x="8412480" y="196596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4 线程改善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229600" y="2560320"/>
            <a:ext cx="3474720" cy="822960"/>
          </a:xfrm>
          <a:prstGeom prst="rect">
            <a:avLst>
              <a:gd name="adj" fmla="val 8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12700" dir="16200000">
              <a:srgbClr val="000000">
                <a:alpha val="5000"/>
              </a:srgbClr>
            </a:outerShdw>
          </a:effectLst>
        </p:spPr>
      </p:sp>
      <p:sp>
        <p:nvSpPr>
          <p:cNvPr id="13" name="Text 10"/>
          <p:cNvSpPr/>
          <p:nvPr/>
        </p:nvSpPr>
        <p:spPr>
          <a:xfrm>
            <a:off x="8412480" y="260604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596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↓ 30%</a:t>
            </a:r>
            <a:endParaRPr lang="en-US" sz="2400" dirty="0"/>
          </a:p>
        </p:txBody>
      </p:sp>
      <p:sp>
        <p:nvSpPr>
          <p:cNvPr id="14" name="Text 11"/>
          <p:cNvSpPr/>
          <p:nvPr/>
        </p:nvSpPr>
        <p:spPr>
          <a:xfrm>
            <a:off x="8412480" y="306324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16 线程改善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8229600" y="3657600"/>
            <a:ext cx="3474720" cy="822960"/>
          </a:xfrm>
          <a:prstGeom prst="rect">
            <a:avLst>
              <a:gd name="adj" fmla="val 8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12700" dir="16200000">
              <a:srgbClr val="000000">
                <a:alpha val="5000"/>
              </a:srgbClr>
            </a:outerShdw>
          </a:effectLst>
        </p:spPr>
      </p:sp>
      <p:sp>
        <p:nvSpPr>
          <p:cNvPr id="16" name="Text 13"/>
          <p:cNvSpPr/>
          <p:nvPr/>
        </p:nvSpPr>
        <p:spPr>
          <a:xfrm>
            <a:off x="8412480" y="370332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0.727 &lt; 0.779</a:t>
            </a:r>
            <a:endParaRPr lang="en-US" sz="2400" dirty="0"/>
          </a:p>
        </p:txBody>
      </p:sp>
      <p:sp>
        <p:nvSpPr>
          <p:cNvPr id="17" name="Text 14"/>
          <p:cNvSpPr/>
          <p:nvPr/>
        </p:nvSpPr>
        <p:spPr>
          <a:xfrm>
            <a:off x="8412480" y="416052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反超 eBPF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502920" y="5852160"/>
            <a:ext cx="6400800" cy="411480"/>
          </a:xfrm>
          <a:prstGeom prst="rect">
            <a:avLst>
              <a:gd name="adj" fmla="val 13333"/>
            </a:avLst>
          </a:prstGeom>
          <a:solidFill>
            <a:srgbClr val="ECFDF5"/>
          </a:solidFill>
          <a:ln/>
        </p:spPr>
      </p:sp>
      <p:sp>
        <p:nvSpPr>
          <p:cNvPr id="19" name="Text 16"/>
          <p:cNvSpPr/>
          <p:nvPr/>
        </p:nvSpPr>
        <p:spPr>
          <a:xfrm>
            <a:off x="502920" y="5852160"/>
            <a:ext cx="6400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LD_PRELOAD 也能做到每核无锁写入 — 不需要引入 eBPF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320040"/>
            <a:ext cx="594360" cy="502920"/>
          </a:xfrm>
          <a:prstGeom prst="rect">
            <a:avLst>
              <a:gd name="adj" fmla="val 14545"/>
            </a:avLst>
          </a:prstGeom>
          <a:solidFill>
            <a:srgbClr val="2563EB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320040"/>
            <a:ext cx="594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325880" y="292608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实验汇总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457200" y="1051560"/>
            <a:ext cx="11274552" cy="13716"/>
          </a:xfrm>
          <a:prstGeom prst="rect">
            <a:avLst/>
          </a:prstGeom>
          <a:solidFill>
            <a:srgbClr val="E2E8F0"/>
          </a:solidFill>
          <a:ln/>
        </p:spPr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280160"/>
          <a:ext cx="11247120" cy="914400"/>
        </p:xfrm>
        <a:graphic>
          <a:graphicData uri="http://schemas.openxmlformats.org/drawingml/2006/table">
            <a:tbl>
              <a:tblPr/>
              <a:tblGrid>
                <a:gridCol w="3749040"/>
                <a:gridCol w="3749040"/>
                <a:gridCol w="374904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实验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结论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状态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Sub-stage 36 死锁修复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旧数据作废，修复后 30-40× 更快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✓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34/35/36 三层拆解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eventfd (65%) 最大开销，consumer 免费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✓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StackWriter batch publish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内锁临界区太小，batch 无效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✗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锁延迟模拟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临界区长度不是瓶颈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✗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CAS 锁替换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4T 有效，8T+ cache line bouncing 抵消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△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Consumer profiling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ring drain 423ns/~20rec，几乎免费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✓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FT sweep (1→200)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FLUSH_FLAG=20 合理，50 有 12% 空间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✓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eBPF 重对比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高线程仍有 1.6× 优势，差距缩小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✓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Sharded ring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4T: -39%, 16T: -30%, 反超 eBPF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★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核心结论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457200" y="1645920"/>
            <a:ext cx="112471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4800"/>
              </a:lnSpc>
              <a:buNone/>
            </a:pPr>
            <a:r>
              <a:rPr lang="en-US" sz="3400" b="1" dirty="0">
                <a:solidFill>
                  <a:srgbClr val="FFFFFF"/>
                </a:solidFill>
              </a:rPr>
              <a:t>Per-CPU 无锁写入</a:t>
            </a:r>
            <a:endParaRPr lang="en-US" sz="3400" dirty="0"/>
          </a:p>
          <a:p>
            <a:pPr algn="ctr" indent="0" marL="0">
              <a:lnSpc>
                <a:spcPts val="4800"/>
              </a:lnSpc>
              <a:buNone/>
            </a:pPr>
            <a:r>
              <a:rPr lang="en-US" sz="3400" b="1" dirty="0">
                <a:solidFill>
                  <a:srgbClr val="FFFFFF"/>
                </a:solidFill>
              </a:rPr>
              <a:t>是正确的优化方向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4114800" y="3200400"/>
            <a:ext cx="3931920" cy="27432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3474720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93C5FD"/>
                </a:solidFill>
              </a:rPr>
              <a:t>LD_PRELOAD + TID-based Sharded Ring 是最优解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1828800" y="4754880"/>
            <a:ext cx="2560320" cy="1463040"/>
          </a:xfrm>
          <a:prstGeom prst="rect">
            <a:avLst>
              <a:gd name="adj" fmla="val 6250"/>
            </a:avLst>
          </a:prstGeom>
          <a:solidFill>
            <a:srgbClr val="1E3A5F"/>
          </a:solidFill>
          <a:ln/>
        </p:spPr>
      </p:sp>
      <p:sp>
        <p:nvSpPr>
          <p:cNvPr id="8" name="Text 6"/>
          <p:cNvSpPr/>
          <p:nvPr/>
        </p:nvSpPr>
        <p:spPr>
          <a:xfrm>
            <a:off x="1828800" y="484632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数据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828800" y="5120640"/>
            <a:ext cx="2560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16T: -30%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1828800" y="576072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3C5FD"/>
                </a:solidFill>
              </a:rPr>
              <a:t>反超 eBPF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029200" y="4754880"/>
            <a:ext cx="2560320" cy="1463040"/>
          </a:xfrm>
          <a:prstGeom prst="rect">
            <a:avLst>
              <a:gd name="adj" fmla="val 6250"/>
            </a:avLst>
          </a:prstGeom>
          <a:solidFill>
            <a:srgbClr val="1E3A5F"/>
          </a:solidFill>
          <a:ln/>
        </p:spPr>
      </p:sp>
      <p:sp>
        <p:nvSpPr>
          <p:cNvPr id="12" name="Text 10"/>
          <p:cNvSpPr/>
          <p:nvPr/>
        </p:nvSpPr>
        <p:spPr>
          <a:xfrm>
            <a:off x="5029200" y="484632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功能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029200" y="5120640"/>
            <a:ext cx="2560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完整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5029200" y="576072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3C5FD"/>
                </a:solidFill>
              </a:rPr>
              <a:t>保留 FpUnwind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8229600" y="4754880"/>
            <a:ext cx="2560320" cy="1463040"/>
          </a:xfrm>
          <a:prstGeom prst="rect">
            <a:avLst>
              <a:gd name="adj" fmla="val 6250"/>
            </a:avLst>
          </a:prstGeom>
          <a:solidFill>
            <a:srgbClr val="1E3A5F"/>
          </a:solidFill>
          <a:ln/>
        </p:spPr>
      </p:sp>
      <p:sp>
        <p:nvSpPr>
          <p:cNvPr id="16" name="Text 14"/>
          <p:cNvSpPr/>
          <p:nvPr/>
        </p:nvSpPr>
        <p:spPr>
          <a:xfrm>
            <a:off x="8229600" y="484632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部署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229600" y="5120640"/>
            <a:ext cx="2560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零依赖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8229600" y="576072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3C5FD"/>
                </a:solidFill>
              </a:rPr>
              <a:t>无需 root/BPF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320040"/>
            <a:ext cx="594360" cy="502920"/>
          </a:xfrm>
          <a:prstGeom prst="rect">
            <a:avLst>
              <a:gd name="adj" fmla="val 14545"/>
            </a:avLst>
          </a:prstGeom>
          <a:solidFill>
            <a:srgbClr val="2563EB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320040"/>
            <a:ext cx="594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325880" y="292608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后续计划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457200" y="1051560"/>
            <a:ext cx="11274552" cy="13716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7" name="Shape 5"/>
          <p:cNvSpPr/>
          <p:nvPr/>
        </p:nvSpPr>
        <p:spPr>
          <a:xfrm>
            <a:off x="640080" y="1645920"/>
            <a:ext cx="502920" cy="502920"/>
          </a:xfrm>
          <a:prstGeom prst="rect">
            <a:avLst>
              <a:gd name="adj" fmla="val 14545"/>
            </a:avLst>
          </a:prstGeom>
          <a:solidFill>
            <a:srgbClr val="EFF6FF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16459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371600" y="160020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93B"/>
                </a:solidFill>
              </a:rPr>
              <a:t>Shard + Batch 组合优化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371600" y="196596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64748B"/>
                </a:solidFill>
              </a:rPr>
              <a:t>回归显示 batch64 16T=0.587s 仍优于 sharded 0.727s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64748B"/>
                </a:solidFill>
              </a:rPr>
              <a:t>两者组合（batch 减开销 + shard 消锁）可能进一步突破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886968" y="2240280"/>
            <a:ext cx="13716" cy="868680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2" name="Shape 10"/>
          <p:cNvSpPr/>
          <p:nvPr/>
        </p:nvSpPr>
        <p:spPr>
          <a:xfrm>
            <a:off x="640080" y="3200400"/>
            <a:ext cx="502920" cy="502920"/>
          </a:xfrm>
          <a:prstGeom prst="rect">
            <a:avLst>
              <a:gd name="adj" fmla="val 14545"/>
            </a:avLst>
          </a:prstGeom>
          <a:solidFill>
            <a:srgbClr val="EFF6FF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32004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371600" y="315468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93B"/>
                </a:solidFill>
              </a:rPr>
              <a:t>Shard 数量 Sweep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1371600" y="352044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64748B"/>
                </a:solidFill>
              </a:rPr>
              <a:t>当前固定 16 片，sweep 4/8/16/32/64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64748B"/>
                </a:solidFill>
              </a:rPr>
              <a:t>找到不同线程数下的最佳分片数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886968" y="3794760"/>
            <a:ext cx="13716" cy="868680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7" name="Shape 15"/>
          <p:cNvSpPr/>
          <p:nvPr/>
        </p:nvSpPr>
        <p:spPr>
          <a:xfrm>
            <a:off x="640080" y="4754880"/>
            <a:ext cx="502920" cy="502920"/>
          </a:xfrm>
          <a:prstGeom prst="rect">
            <a:avLst>
              <a:gd name="adj" fmla="val 14545"/>
            </a:avLst>
          </a:prstGeom>
          <a:solidFill>
            <a:srgbClr val="EFF6FF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" y="47548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371600" y="470916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93B"/>
                </a:solidFill>
              </a:rPr>
              <a:t>代码合入 + 文档整理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1371600" y="507492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64748B"/>
                </a:solidFill>
              </a:rPr>
              <a:t>实验代码已验证，合入 main 分支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64748B"/>
                </a:solidFill>
              </a:rPr>
              <a:t>清理实验分支，更新工作记录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22" name="Text 20"/>
          <p:cNvSpPr/>
          <p:nvPr/>
        </p:nvSpPr>
        <p:spPr>
          <a:xfrm>
            <a:off x="457200" y="603504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4748B"/>
                </a:solidFill>
              </a:rPr>
              <a:t>谢谢！请批评指正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native_hook 优化进展 — 2026.06.11</dc:title>
  <dc:subject>PptxGenJS Presentation</dc:subject>
  <dc:creator>陈一驰</dc:creator>
  <cp:lastModifiedBy>陈一驰</cp:lastModifiedBy>
  <cp:revision>1</cp:revision>
  <dcterms:created xsi:type="dcterms:W3CDTF">2026-06-09T09:12:48Z</dcterms:created>
  <dcterms:modified xsi:type="dcterms:W3CDTF">2026-06-09T09:12:48Z</dcterms:modified>
</cp:coreProperties>
</file>
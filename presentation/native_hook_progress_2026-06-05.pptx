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164592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b="1" dirty="0">
                <a:solidFill>
                  <a:srgbClr val="1A1A2E"/>
                </a:solidFill>
              </a:rPr>
              <a:t>native_hook</a:t>
            </a:r>
            <a:endParaRPr lang="en-US" sz="7200" dirty="0"/>
          </a:p>
        </p:txBody>
      </p:sp>
      <p:sp>
        <p:nvSpPr>
          <p:cNvPr id="3" name="Text 1"/>
          <p:cNvSpPr/>
          <p:nvPr/>
        </p:nvSpPr>
        <p:spPr>
          <a:xfrm>
            <a:off x="914400" y="28346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2563EB"/>
                </a:solidFill>
              </a:rPr>
              <a:t>Producer Hot Path 优化进展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114800" y="3383280"/>
            <a:ext cx="393192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5" name="Text 3"/>
          <p:cNvSpPr/>
          <p:nvPr/>
        </p:nvSpPr>
        <p:spPr>
          <a:xfrm>
            <a:off x="91440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888A8"/>
                </a:solidFill>
              </a:rPr>
              <a:t>2026.06.05  组会汇报  ·  陈一驰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上次组会反馈闭环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四个问题，逐一回应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" y="1188720"/>
            <a:ext cx="5577840" cy="381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RESOLVED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5720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"4T比1T多1.8s"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ring共享状态竞争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batch解决后 4T: 2.72s → 0.86s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26480" y="118872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126480" y="1188720"/>
            <a:ext cx="5577840" cy="381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32588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UPGRADED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263640" y="162763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"跑一下perf"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63640" y="210312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ablation替代perf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sub-stage 34/35 拆到模块内部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COMPLETED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"fork Gitee→GitLab"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5720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5个核心函数全加batch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→ gitlab.youtune.tech/memory_leak/yt_nativehook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126480" y="3794760"/>
            <a:ext cx="5577840" cy="2331720"/>
          </a:xfrm>
          <a:prstGeom prst="roundRect">
            <a:avLst>
              <a:gd name="adj" fmla="val 3922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126480" y="3794760"/>
            <a:ext cx="5577840" cy="381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24" name="Text 22"/>
          <p:cNvSpPr/>
          <p:nvPr/>
        </p:nvSpPr>
        <p:spPr>
          <a:xfrm>
            <a:off x="6263640" y="3931920"/>
            <a:ext cx="1371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263640" y="4233672"/>
            <a:ext cx="53035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▸ "4T eBPF异常快"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63640" y="4709160"/>
            <a:ext cx="53035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高线程验证: 8T eBPF=1.71s vs LD=4.27s (2.5x)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16T eBPF=1.47s vs LD=4.39s (3.0x)</a:t>
            </a:r>
            <a:endParaRPr lang="en-US" sz="12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4A4A6A"/>
                </a:solidFill>
              </a:rPr>
              <a:t>eBPF per-CPU ringbuf 无共享竞争 → 详见 Slide 6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写入器/环形缓冲区 逐段拆解实验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28~33 逐段测量，固定100万次malloc/free pair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28 no_ring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基线（无ring操作）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29 mutex_only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仅拿锁 + tracking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0.28s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30 ring_index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ring index检查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1.92s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31 record_copy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记录拷贝到共享内存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0.68s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2.85s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3.52s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32 atomic_pub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atomic write_index发布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0.75s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2.35s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3.80s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full_notify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+ eventfd + consumer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3.41s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48056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多线程额外开销主要来自 ring index/copy 和 atomic publish——共享状态竞争逐步放大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notify/consumer 交互在 8T/16T 下显著抬头，是第二大开销源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生产者端 两项优化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缩短 per-record 共享路径开销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8016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2563E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74320" y="1280160"/>
            <a:ext cx="109728" cy="27432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9" name="Text 7"/>
          <p:cNvSpPr/>
          <p:nvPr/>
        </p:nvSpPr>
        <p:spPr>
          <a:xfrm>
            <a:off x="594360" y="15087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146304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记录填充移出写入锁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554480" y="192024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移出锁的操作: 进程/线程ID、时间戳、类型、大小、地址 + 线程名更新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这些字段不碰共享状态 — 进程/线程ID本地缓存，时间戳直接系统调用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原来: 拿锁 → 填充字段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优化后: 填充字段 → 拿锁 → 写共享内存 → 通知 → 放锁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4T: 3.51→2.72s (22.5%)    8T: 3.64→3.12s (14.3%)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核心收益: 缩短临界区 → 减少等锁时间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74320" y="3749040"/>
            <a:ext cx="1161288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240">
            <a:solidFill>
              <a:srgbClr val="EA580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74320" y="3749040"/>
            <a:ext cx="109728" cy="2743200"/>
          </a:xfrm>
          <a:prstGeom prst="rect">
            <a:avLst/>
          </a:prstGeom>
          <a:solidFill>
            <a:srgbClr val="EA580C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3977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A58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371600" y="393192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A2E"/>
                </a:solidFill>
              </a:rPr>
              <a:t>批量发布 (Batch Publish)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1554480" y="4389120"/>
            <a:ext cx="987552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线程本地缓冲区 (固定数组 + 计数器)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记录先进缓冲区; 攒满批次大小 → 触发批量排空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排空: 一次拿锁 → 批量写 → 一次原子发布索引 → 一次事件通知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线程退出时析构函数自动排空残留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控制: LNHV1_STAGE6_BATCH_SIZE=1~64（默认0=关闭）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效果: 1T 1.55→1.22s    8T 3.12→1.28s    16T 3.41→1.34s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工作原理 (Batch Publish)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逐记录  vs  逐批次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逐记录模式（优化前）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18872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1554480" y="16002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54480" y="16002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219456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256032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56032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383280" y="16459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749040" y="16002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49040" y="16002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27432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118872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1554480" y="22860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54480" y="22860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219456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5" name="Shape 23"/>
          <p:cNvSpPr/>
          <p:nvPr/>
        </p:nvSpPr>
        <p:spPr>
          <a:xfrm>
            <a:off x="256032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56032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383280" y="23317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3749040" y="22860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749040" y="22860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27432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2563EB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118872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1554480" y="2971800"/>
            <a:ext cx="64008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554480" y="2971800"/>
            <a:ext cx="6400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lock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219456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256032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6032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write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3383280" y="3017520"/>
            <a:ext cx="3657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3749040" y="297180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D0D8E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49040" y="2971800"/>
            <a:ext cx="8229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4A4A6A"/>
                </a:solidFill>
              </a:rPr>
              <a:t>notify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27432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7432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274320" y="4206240"/>
            <a:ext cx="4297680" cy="320040"/>
          </a:xfrm>
          <a:prstGeom prst="roundRect">
            <a:avLst>
              <a:gd name="adj" fmla="val 11429"/>
            </a:avLst>
          </a:prstGeom>
          <a:solidFill>
            <a:srgbClr val="EEF2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74320" y="4206240"/>
            <a:ext cx="42976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record → 每条记录走一遍拿锁、写共享内存、通知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583680" y="1143000"/>
            <a:ext cx="5303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逐批次模式（batch=64 优化后）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6583680" y="16002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583680" y="16002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1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6583680" y="22860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583680" y="22860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2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583680" y="297180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583680" y="297180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3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583680" y="3794760"/>
            <a:ext cx="914400" cy="320040"/>
          </a:xfrm>
          <a:prstGeom prst="roundRect">
            <a:avLst>
              <a:gd name="adj" fmla="val 11429"/>
            </a:avLst>
          </a:prstGeom>
          <a:solidFill>
            <a:srgbClr val="F0F0F8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583680" y="379476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4A4A6A"/>
                </a:solidFill>
              </a:rPr>
              <a:t>...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583680" y="393192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059669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83680" y="3931920"/>
            <a:ext cx="914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</a:rPr>
              <a:t>record 64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772400" y="1737360"/>
            <a:ext cx="1463040" cy="2834640"/>
          </a:xfrm>
          <a:prstGeom prst="roundRect">
            <a:avLst>
              <a:gd name="adj" fmla="val 3750"/>
            </a:avLst>
          </a:prstGeom>
          <a:solidFill>
            <a:srgbClr val="F0FDF4"/>
          </a:solidFill>
          <a:ln w="19050">
            <a:solidFill>
              <a:srgbClr val="059669"/>
            </a:solidFill>
            <a:prstDash val="dash"/>
          </a:ln>
        </p:spPr>
      </p:sp>
      <p:sp>
        <p:nvSpPr>
          <p:cNvPr id="57" name="Text 55"/>
          <p:cNvSpPr/>
          <p:nvPr/>
        </p:nvSpPr>
        <p:spPr>
          <a:xfrm>
            <a:off x="7772400" y="2194560"/>
            <a:ext cx="14630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buffer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b="1" dirty="0">
                <a:solidFill>
                  <a:srgbClr val="059669"/>
                </a:solidFill>
              </a:rPr>
              <a:t>64 records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7772400" y="29260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A4A6A"/>
                </a:solidFill>
              </a:rPr>
              <a:t>count++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7772400" y="33832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A580C"/>
                </a:solidFill>
              </a:rPr>
              <a:t>满 64 → flush</a:t>
            </a:r>
            <a:endParaRPr lang="en-US" sz="900" dirty="0"/>
          </a:p>
        </p:txBody>
      </p:sp>
      <p:sp>
        <p:nvSpPr>
          <p:cNvPr id="60" name="Text 58"/>
          <p:cNvSpPr/>
          <p:nvPr/>
        </p:nvSpPr>
        <p:spPr>
          <a:xfrm>
            <a:off x="7772400" y="3840480"/>
            <a:ext cx="1463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A4A6A"/>
                </a:solidFill>
              </a:rPr>
              <a:t>析构 → flush 残留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498080" y="1801368"/>
            <a:ext cx="274320" cy="3931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7498080" y="2487168"/>
            <a:ext cx="274320" cy="164592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3" name="Shape 61"/>
          <p:cNvSpPr/>
          <p:nvPr/>
        </p:nvSpPr>
        <p:spPr>
          <a:xfrm>
            <a:off x="7498080" y="3172968"/>
            <a:ext cx="274320" cy="-64008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4" name="Shape 62"/>
          <p:cNvSpPr/>
          <p:nvPr/>
        </p:nvSpPr>
        <p:spPr>
          <a:xfrm>
            <a:off x="9235440" y="214884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5" name="Shape 63"/>
          <p:cNvSpPr/>
          <p:nvPr/>
        </p:nvSpPr>
        <p:spPr>
          <a:xfrm>
            <a:off x="950976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950976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lock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10332720" y="205740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68" name="Shape 66"/>
          <p:cNvSpPr/>
          <p:nvPr/>
        </p:nvSpPr>
        <p:spPr>
          <a:xfrm>
            <a:off x="10607040" y="192024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607040" y="19202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write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64条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11521440" y="1965960"/>
            <a:ext cx="13716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1" name="Shape 69"/>
          <p:cNvSpPr/>
          <p:nvPr/>
        </p:nvSpPr>
        <p:spPr>
          <a:xfrm>
            <a:off x="9235440" y="324612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509760" y="3017520"/>
            <a:ext cx="109728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509760" y="3017520"/>
            <a:ext cx="1097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publish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10607040" y="3154680"/>
            <a:ext cx="274320" cy="0"/>
          </a:xfrm>
          <a:prstGeom prst="line">
            <a:avLst/>
          </a:prstGeom>
          <a:noFill/>
          <a:ln w="15240">
            <a:solidFill>
              <a:srgbClr val="4A4A6A"/>
            </a:solidFill>
            <a:prstDash val="solid"/>
            <a:tailEnd type="triangle"/>
          </a:ln>
        </p:spPr>
      </p:sp>
      <p:sp>
        <p:nvSpPr>
          <p:cNvPr id="75" name="Shape 73"/>
          <p:cNvSpPr/>
          <p:nvPr/>
        </p:nvSpPr>
        <p:spPr>
          <a:xfrm>
            <a:off x="10881360" y="3017520"/>
            <a:ext cx="822960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81360" y="30175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notify</a:t>
            </a:r>
            <a:endParaRPr lang="en-US" sz="800" dirty="0"/>
          </a:p>
          <a:p>
            <a:pPr algn="ctr" indent="0" marL="0">
              <a:buNone/>
            </a:pPr>
            <a:r>
              <a:rPr lang="en-US" sz="800" b="1" dirty="0">
                <a:solidFill>
                  <a:srgbClr val="EA580C"/>
                </a:solidFill>
              </a:rPr>
              <a:t>1次</a:t>
            </a:r>
            <a:endParaRPr lang="en-US" sz="800" dirty="0"/>
          </a:p>
        </p:txBody>
      </p:sp>
      <p:sp>
        <p:nvSpPr>
          <p:cNvPr id="77" name="Shape 75"/>
          <p:cNvSpPr/>
          <p:nvPr/>
        </p:nvSpPr>
        <p:spPr>
          <a:xfrm>
            <a:off x="274320" y="5669280"/>
            <a:ext cx="11521440" cy="594360"/>
          </a:xfrm>
          <a:prstGeom prst="roundRect">
            <a:avLst>
              <a:gd name="adj" fmla="val 6154"/>
            </a:avLst>
          </a:prstGeom>
          <a:solidFill>
            <a:srgbClr val="FFF7ED"/>
          </a:solidFill>
          <a:ln w="6350">
            <a:solidFill>
              <a:srgbClr val="E0E4EC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57200" y="5669280"/>
            <a:ext cx="11155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2E"/>
                </a:solidFill>
              </a:rPr>
              <a:t>即：100万次锁操作 → 1.5万次锁操作    100万次原子索引发布 → 1.5万次    ~5万次事件通知 → ~780次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批量发布 — 服务器验证数据 (Batch Publish)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100万次固定负载  ·  Stage 6 full notify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21.2%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 Thread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20040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68.4%</a:t>
            </a:r>
            <a:endParaRPr lang="en-US" sz="46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4 Threads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2648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59.1%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12648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8 Threads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052560" y="1234440"/>
            <a:ext cx="22860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60.7%</a:t>
            </a:r>
            <a:endParaRPr lang="en-US" sz="4600" dirty="0"/>
          </a:p>
        </p:txBody>
      </p:sp>
      <p:sp>
        <p:nvSpPr>
          <p:cNvPr id="14" name="Text 12"/>
          <p:cNvSpPr/>
          <p:nvPr/>
        </p:nvSpPr>
        <p:spPr>
          <a:xfrm>
            <a:off x="9052560" y="20116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888A8"/>
                </a:solidFill>
              </a:rPr>
              <a:t>16 Threads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331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No Batch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= 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提升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1.545s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1.217s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21.2%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2.718s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0.859s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68.4%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3.121s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1.278s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59.1%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3.408s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1.340s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↓ 60.7%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16" name="Text 13"/>
          <p:cNvSpPr/>
          <p:nvPr/>
        </p:nvSpPr>
        <p:spPr>
          <a:xfrm>
            <a:off x="457200" y="438912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Batch-size sweep (8T): 4→1.83s  8→1.58s  16→1.44s  32→1.36s  64→1.26s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Default-off 确认: env未设时 8T=3.39s, 16T=3.36s（行为不变）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eBPF 高线程验证 — 反超 LD_PRELOAD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per-CPU ringbuf 无共享竞争，高线程下优势显著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304288"/>
                <a:gridCol w="2304288"/>
                <a:gridCol w="2304288"/>
                <a:gridCol w="2304288"/>
                <a:gridCol w="2304288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Threads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Run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uprobe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LD_PRELOAD optimized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eBPF 快多少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4.19s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2.4x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1.67s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4.27s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2.6x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1.71s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2.5x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r1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r2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4.39s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16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r3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1.48s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4.40s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3.0x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上次组会: 4T eBPF 比 LD_PRELOAD 慢 0.18s，结论是"不适合替代"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新增 8T/16T 实验 (三次重复): eBPF 全面反超，16T 下快 3 倍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原因: eBPF per-CPU ringbuf 无共享锁竞争，而 LD_PRELOAD batch 仍有 per-batch 锁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4A4A6A"/>
                </a:solidFill>
              </a:rPr>
              <a:t>结论: 低线程 LD_PRELOAD 更好，高线程 eBPF 天花板更高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栈写入器 模块级瓶颈定位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sub-stage 34/35  ·  ring write 内锁 vs eventfd 开销分离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920240"/>
                <a:gridCol w="1920240"/>
                <a:gridCol w="1920240"/>
                <a:gridCol w="192024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Sub-stage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测量内容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4T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8T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16T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34 write_only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ring write + inner mutex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8.60s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20.94s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27.40s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32.25s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35 flush_only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write + eventfd 通知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9.15s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19.60s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23.94s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31.97s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33 + batch64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批处理后完整链路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1.24s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1.26s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1.37s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89120"/>
            <a:ext cx="109728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RING WRITE 内锁占比 ~97%（8.60s vs 9.15s）— eventfd 仅 ~3%，内锁是明确主瓶颈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per-record 锁竞争随线程恶化：8T write 比 1T 慢 3.2 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BATCH64 消除 per-record 锁: 1T 9.15s→1.24s (7.4x)   8T 23.94s→1.26s (19x)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对标真实代码: ShareMemoryBlock::PutWithPayloadTimeout / EventNotifier::Post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原型  ↔  OpenHarmony  架构对齐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已对齐的模块 vs 仍存在的差异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28600" y="1097280"/>
            <a:ext cx="5486400" cy="5029200"/>
          </a:xfrm>
          <a:prstGeom prst="roundRect">
            <a:avLst>
              <a:gd name="adj" fmla="val 1818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</a:rPr>
              <a:t>✓ 已对齐的模块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645920"/>
          <a:ext cx="51206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20116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操作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原型 (Plan B)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59669"/>
                          </a:solidFill>
                        </a:rPr>
                        <a:t>真实代码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malloc入口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hook_writer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hook_malloc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重入保护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HookReentryGuard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__set_hook_flag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地址追踪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address_handler.h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AddAllocAddr()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写共享内存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stack_writer.cpp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WriteWithPayloadTimeout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通知消费者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stack_writer::Flush  [新增]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1A1A2E"/>
                          </a:solidFill>
                        </a:rPr>
                        <a:t>Flush→EventNotifier::Post</a:t>
                      </a:r>
                      <a:endParaRPr lang="en-US" sz="900" dirty="0"/>
                    </a:p>
                  </a:txBody>
                  <a:tcPr marL="50800" marR="50800" marT="25400" marB="25400">
                    <a:lnL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5966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FDF5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5989320" y="1097280"/>
            <a:ext cx="5943600" cy="5029200"/>
          </a:xfrm>
          <a:prstGeom prst="roundRect">
            <a:avLst>
              <a:gd name="adj" fmla="val 1818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217920" y="118872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B2777"/>
                </a:solidFill>
              </a:rPr>
              <a:t>✗ 仍存在的差异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309360" y="1691640"/>
            <a:ext cx="54864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FpUnwind 栈回溯: aarch64 专用指令，原型跑 x86 无法实现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StackRawData 格式: 原型简化版字段 vs 真实代码含 ip[] 数组 + jsChainId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record 大小计算: 原型固定 sizeof(HookRecord)，真实代码根据 fpunwind 模式动态计算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构建系统: 原型用 CMake，真实代码用 GN + OpenHarmony SDK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共享内存层: 原型直接操作 ring，真实代码多一层 ShareMemoryBlock 封装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consumer 交互: 原型简单 eventfd，真实代码多了一层 EventNotifier + 心跳检测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编译验证: 原型可本地编译测试，真实代码待 OH SDK 环境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OpenHarmony Fork — 优化移植状态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gitlab.youtune.tech/memory_leak/yt_nativehook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188720"/>
          <a:ext cx="11521440" cy="914400"/>
        </p:xfrm>
        <a:graphic>
          <a:graphicData uri="http://schemas.openxmlformats.org/drawingml/2006/table">
            <a:tbl>
              <a:tblPr/>
              <a:tblGrid>
                <a:gridCol w="2880360"/>
                <a:gridCol w="2880360"/>
                <a:gridCol w="2880360"/>
                <a:gridCol w="288036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函数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调用场景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record-fill-before-lock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</a:rPr>
                        <a:t>batch publish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hook_malloc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主分配路径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hook_calloc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C++ new 底层调用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hook_realloc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vector 扩容（free+alloc）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hook_aligned_alloc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对齐分配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—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hook_free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释放路径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4A4A6A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059669"/>
                          </a:solidFill>
                        </a:rPr>
                        <a:t>✓</a:t>
                      </a:r>
                      <a:endParaRPr lang="en-US" sz="1200" dirty="0"/>
                    </a:p>
                  </a:txBody>
                  <a:tcPr marL="76200" marR="76200" marT="25400" marB="25400">
                    <a:lnL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4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84048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待 OpenHarmony 编译环境到位后可 benchmark 验证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未移植: PID/TID cache（已有）、tracking fallback（架构不同）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经验教训 &amp; 三步预检方法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280160" y="5669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A8"/>
                </a:solidFill>
              </a:rPr>
              <a:t>两个无效优化如何发生，以及后续怎么避免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234440"/>
            <a:ext cx="5349240" cy="4114800"/>
          </a:xfrm>
          <a:prstGeom prst="roundRect">
            <a:avLst>
              <a:gd name="adj" fmla="val 2222"/>
            </a:avLst>
          </a:prstGeom>
          <a:solidFill>
            <a:srgbClr val="FDF2F8"/>
          </a:solidFill>
          <a:ln w="15240">
            <a:solidFill>
              <a:srgbClr val="DB277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37160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B2777"/>
                </a:solidFill>
              </a:rPr>
              <a:t>失败的优化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02920" y="1691640"/>
            <a:ext cx="475488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PID/TID cache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真实代码已有 pthread_getspecific + atomic load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优化方向正确，但冗余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tracking fallback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free 记录直接发给 daemon 做匹配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producer 端不维护查表路径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优化了一个原型里才存在的瓶颈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897880" y="1234440"/>
            <a:ext cx="5989320" cy="4114800"/>
          </a:xfrm>
          <a:prstGeom prst="roundRect">
            <a:avLst>
              <a:gd name="adj" fmla="val 2222"/>
            </a:avLst>
          </a:prstGeom>
          <a:solidFill>
            <a:srgbClr val="ECFDF5"/>
          </a:solidFill>
          <a:ln w="1524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26480" y="137160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</a:rPr>
              <a:t>三步预检法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126480" y="1691640"/>
            <a:ext cx="53035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①  画映射表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原型每个模块 ↔ 真实代码 函数+行号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②  结构对齐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原型补缺失模块，数据精确对标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③  三问预检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Q1: 改哪个原型模块？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Q2: 对应哪个真实函数？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Q3: 真实代码走不走这条路径？</a:t>
            </a:r>
            <a:endParaRPr lang="en-US" sz="1100" dirty="0"/>
          </a:p>
          <a:p>
            <a:pPr marL="342900" indent="-342900">
              <a:lnSpc>
                <a:spcPts val="2400"/>
              </a:lnSpc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4A4A6A"/>
                </a:solidFill>
              </a:rPr>
              <a:t>    → 答不上来，不动手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932688"/>
            <a:ext cx="12188952" cy="25400"/>
          </a:xfrm>
          <a:prstGeom prst="rect">
            <a:avLst/>
          </a:prstGeom>
          <a:solidFill>
            <a:srgbClr val="E0E4EC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371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1280160" y="137160"/>
            <a:ext cx="9144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A1A2E"/>
                </a:solidFill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13716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371600"/>
            <a:ext cx="109728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8" name="Text 6"/>
          <p:cNvSpPr/>
          <p:nvPr/>
        </p:nvSpPr>
        <p:spPr>
          <a:xfrm>
            <a:off x="1234440" y="15087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103120" y="1554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Producer 端继续拆解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2103120" y="201168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consumer 侧 profiling，完善 sub-stage 36 完整链测量数据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306324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" y="3063240"/>
            <a:ext cx="109728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13" name="Text 11"/>
          <p:cNvSpPr/>
          <p:nvPr/>
        </p:nvSpPr>
        <p:spPr>
          <a:xfrm>
            <a:off x="1234440" y="32004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2103120" y="324612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eBPF 高线程验证结论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2103120" y="37033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8T/16T 已确认：eBPF per-CPU ringbuf 反超 LD_PRELOAD 2.5~3x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如需进一步：评估 producer 端 eBPF 替代方案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914400" y="475488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4754880"/>
            <a:ext cx="109728" cy="1371600"/>
          </a:xfrm>
          <a:prstGeom prst="rect">
            <a:avLst/>
          </a:prstGeom>
          <a:solidFill>
            <a:srgbClr val="059669"/>
          </a:solidFill>
          <a:ln/>
        </p:spPr>
      </p:sp>
      <p:sp>
        <p:nvSpPr>
          <p:cNvPr id="18" name="Text 16"/>
          <p:cNvSpPr/>
          <p:nvPr/>
        </p:nvSpPr>
        <p:spPr>
          <a:xfrm>
            <a:off x="1234440" y="489204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2103120" y="4937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</a:rPr>
              <a:t>真实代码验证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2103120" y="539496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6A"/>
                </a:solidFill>
              </a:rPr>
              <a:t>等待 OpenHarmony 编译环境 → GitLab fork benchmark → 合 master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Producer Hot Path Progress</dc:title>
  <dc:subject>PptxGenJS Presentation</dc:subject>
  <dc:creator>陈一驰</dc:creator>
  <cp:lastModifiedBy>陈一驰</cp:lastModifiedBy>
  <cp:revision>1</cp:revision>
  <dcterms:created xsi:type="dcterms:W3CDTF">2026-06-04T02:23:41Z</dcterms:created>
  <dcterms:modified xsi:type="dcterms:W3CDTF">2026-06-04T02:23:41Z</dcterms:modified>
</cp:coreProperties>
</file>
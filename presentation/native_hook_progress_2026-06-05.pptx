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46304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</a:rPr>
              <a:t>native_hook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1371600" y="2651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090A8"/>
                </a:solidFill>
              </a:rPr>
              <a:t>Producer Hot Path 优化进展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0" y="3474720"/>
            <a:ext cx="3017520" cy="38100"/>
          </a:xfrm>
          <a:prstGeom prst="rect">
            <a:avLst/>
          </a:prstGeom>
          <a:solidFill>
            <a:srgbClr val="E07B3C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38404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090A8"/>
                </a:solidFill>
              </a:rPr>
              <a:t>2026.06.05  组会汇报  ·  陈一驰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1E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上次组会反馈闭环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90A8"/>
                </a:solidFill>
              </a:rPr>
              <a:t>四个问题，逐一回应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3657600" cy="38100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463040"/>
            <a:ext cx="5303520" cy="2194560"/>
          </a:xfrm>
          <a:prstGeom prst="roundRect">
            <a:avLst>
              <a:gd name="adj" fmla="val 5000"/>
            </a:avLst>
          </a:prstGeom>
          <a:solidFill>
            <a:srgbClr val="E8F5E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600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D8C5E"/>
                </a:solidFill>
              </a:rPr>
              <a:t>❶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97280" y="16459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E2E"/>
                </a:solidFill>
              </a:rPr>
              <a:t>4T vs 1T 多 1.8s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97280" y="2103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85878"/>
                </a:solidFill>
              </a:rPr>
              <a:t>已定位：ring 共享状态竞争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85878"/>
                </a:solidFill>
              </a:rPr>
              <a:t>→ batch 解决后 4T: 2.72s → 0.86s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463040"/>
            <a:ext cx="5303520" cy="2194560"/>
          </a:xfrm>
          <a:prstGeom prst="roundRect">
            <a:avLst>
              <a:gd name="adj" fmla="val 5000"/>
            </a:avLst>
          </a:prstGeom>
          <a:solidFill>
            <a:srgbClr val="EBF0FA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1600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472C4"/>
                </a:solidFill>
              </a:rPr>
              <a:t>❷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766560" y="16459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E2E"/>
                </a:solidFill>
              </a:rPr>
              <a:t>跑一下 perf 收集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766560" y="2103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85878"/>
                </a:solidFill>
              </a:rPr>
              <a:t>用 ablation 替代 perf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85878"/>
                </a:solidFill>
              </a:rPr>
              <a:t>→ sub-stage 34/35 拆到模块内部操作级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5303520" cy="2194560"/>
          </a:xfrm>
          <a:prstGeom prst="roundRect">
            <a:avLst>
              <a:gd name="adj" fmla="val 5000"/>
            </a:avLst>
          </a:prstGeom>
          <a:solidFill>
            <a:srgbClr val="FDF0E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07B3C"/>
                </a:solidFill>
              </a:rPr>
              <a:t>❸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097280" y="41148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E2E"/>
                </a:solidFill>
              </a:rPr>
              <a:t>fork Gitee → GitLab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97280" y="457200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85878"/>
                </a:solidFill>
              </a:rPr>
              <a:t>已完成，5 个核心函数加 batch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85878"/>
                </a:solidFill>
              </a:rPr>
              <a:t>→ gitlab.youtune.tech/cychi/cyc_nativehook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26480" y="3931920"/>
            <a:ext cx="5303520" cy="2194560"/>
          </a:xfrm>
          <a:prstGeom prst="roundRect">
            <a:avLst>
              <a:gd name="adj" fmla="val 5000"/>
            </a:avLst>
          </a:prstGeom>
          <a:solidFill>
            <a:srgbClr val="F0EBF8"/>
          </a:solidFill>
          <a:ln/>
        </p:spPr>
      </p:sp>
      <p:sp>
        <p:nvSpPr>
          <p:cNvPr id="18" name="Text 16"/>
          <p:cNvSpPr/>
          <p:nvPr/>
        </p:nvSpPr>
        <p:spPr>
          <a:xfrm>
            <a:off x="630936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7B4FBF"/>
                </a:solidFill>
              </a:rPr>
              <a:t>❹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766560" y="41148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E2E"/>
                </a:solidFill>
              </a:rPr>
              <a:t>4T eBPF 异常快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766560" y="457200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85878"/>
                </a:solidFill>
              </a:rPr>
              <a:t>本轮聚焦 producer 端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85878"/>
                </a:solidFill>
              </a:rPr>
              <a:t>→ eBPF 线暂停，待后续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1E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Writer/Ring Impact 拆解实验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90A8"/>
                </a:solidFill>
              </a:rPr>
              <a:t>sub-stage 28~33 逐段测量，固定 100 万次 malloc/free pair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3657600" cy="38100"/>
          </a:xfrm>
          <a:prstGeom prst="rect">
            <a:avLst/>
          </a:prstGeom>
          <a:solidFill>
            <a:srgbClr val="4472C4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17320"/>
          <a:ext cx="11338560" cy="914400"/>
        </p:xfrm>
        <a:graphic>
          <a:graphicData uri="http://schemas.openxmlformats.org/drawingml/2006/table">
            <a:tbl>
              <a:tblPr/>
              <a:tblGrid>
                <a:gridCol w="1889760"/>
                <a:gridCol w="1889760"/>
                <a:gridCol w="1889760"/>
                <a:gridCol w="1889760"/>
                <a:gridCol w="1889760"/>
                <a:gridCol w="18897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Sub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测量内容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1T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4T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8T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16T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28 no_ring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基线（无 ring 操作）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29 mutex_only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仅拿锁 + tracking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0.28s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0.62s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0.85s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1.12s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30 ring_index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+ ring index 检查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0.45s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1.35s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1.92s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2.48s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31 record_copy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+ 记录拷贝到共享内存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0.68s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2.10s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2.85s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3.52s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32 atomic_pub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+ atomic write_index 发布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0.75s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2.35s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3.10s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3.80s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33 full_notify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+ eventfd + consumer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1.24s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2.72s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3.12s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3.41s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5720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585878"/>
                </a:solidFill>
              </a:rPr>
              <a:t>多线程额外开销主要来自 ring index/copy 和 atomic publish（共享状态竞争逐步放大）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585878"/>
                </a:solidFill>
              </a:rPr>
              <a:t>notify/consumer 交互是额外大项，8T/16T 显著抬头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1E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Producer 端三项优化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90A8"/>
                </a:solidFill>
              </a:rPr>
              <a:t>逐级降低 per-record 共享路径开销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3657600" cy="38100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737360"/>
            <a:ext cx="11247120" cy="1417320"/>
          </a:xfrm>
          <a:prstGeom prst="roundRect">
            <a:avLst>
              <a:gd name="adj" fmla="val 6452"/>
            </a:avLst>
          </a:prstGeom>
          <a:solidFill>
            <a:srgbClr val="EBF0F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745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472C4"/>
                </a:solidFill>
              </a:rPr>
              <a:t>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88720" y="184708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E2E"/>
                </a:solidFill>
              </a:rPr>
              <a:t>Notify outside mutex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1945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100" dirty="0">
                <a:solidFill>
                  <a:srgbClr val="585878"/>
                </a:solidFill>
              </a:rPr>
              <a:t>eventfd 写入移出 writer 锁临界区</a:t>
            </a:r>
            <a:endParaRPr lang="en-US" sz="11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100" dirty="0">
                <a:solidFill>
                  <a:srgbClr val="585878"/>
                </a:solidFill>
              </a:rPr>
              <a:t>8T: 3.12s→2.85s, 16T: 3.41s→2.98s</a:t>
            </a:r>
            <a:endParaRPr lang="en-US" sz="11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100" dirty="0">
                <a:solidFill>
                  <a:srgbClr val="585878"/>
                </a:solidFill>
              </a:rPr>
              <a:t>减少持锁时间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3429000"/>
            <a:ext cx="11247120" cy="1417320"/>
          </a:xfrm>
          <a:prstGeom prst="roundRect">
            <a:avLst>
              <a:gd name="adj" fmla="val 6452"/>
            </a:avLst>
          </a:prstGeom>
          <a:solidFill>
            <a:srgbClr val="E8F5E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5661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D8C5E"/>
                </a:solidFill>
              </a:rPr>
              <a:t>02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188720" y="353872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E2E"/>
                </a:solidFill>
              </a:rPr>
              <a:t>Record fill outside mutex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71600" y="38862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100" dirty="0">
                <a:solidFill>
                  <a:srgbClr val="585878"/>
                </a:solidFill>
              </a:rPr>
              <a:t>record 元数据填充移出锁</a:t>
            </a:r>
            <a:endParaRPr lang="en-US" sz="11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100" dirty="0">
                <a:solidFill>
                  <a:srgbClr val="585878"/>
                </a:solidFill>
              </a:rPr>
              <a:t>4T: 3.51s→2.72s (22.5%)</a:t>
            </a:r>
            <a:endParaRPr lang="en-US" sz="11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100" dirty="0">
                <a:solidFill>
                  <a:srgbClr val="585878"/>
                </a:solidFill>
              </a:rPr>
              <a:t>缩短临界区在多线程下效果明显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5120640"/>
            <a:ext cx="11247120" cy="1417320"/>
          </a:xfrm>
          <a:prstGeom prst="roundRect">
            <a:avLst>
              <a:gd name="adj" fmla="val 6452"/>
            </a:avLst>
          </a:prstGeom>
          <a:solidFill>
            <a:srgbClr val="FDF0E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52578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07B3C"/>
                </a:solidFill>
              </a:rPr>
              <a:t>★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188720" y="52303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E2E"/>
                </a:solidFill>
              </a:rPr>
              <a:t>Stage 6 Batch Publish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371600" y="55778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100" dirty="0">
                <a:solidFill>
                  <a:srgbClr val="585878"/>
                </a:solidFill>
              </a:rPr>
              <a:t>per-thread buffer → 一次拿锁批量写 → 一次 atomic publish</a:t>
            </a:r>
            <a:endParaRPr lang="en-US" sz="11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100" dirty="0">
                <a:solidFill>
                  <a:srgbClr val="585878"/>
                </a:solidFill>
              </a:rPr>
              <a:t>1T: 1.55s→1.22s  8T: 3.12s→1.28s  16T: 3.41s→1.34s</a:t>
            </a:r>
            <a:endParaRPr lang="en-US" sz="11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100" dirty="0">
                <a:solidFill>
                  <a:srgbClr val="585878"/>
                </a:solidFill>
              </a:rPr>
              <a:t>env gate: LNHV1_STAGE6_BATCH_SIZE=&lt;1..64&gt;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1E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Batch Publish — Pink 验证数据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90A8"/>
                </a:solidFill>
              </a:rPr>
              <a:t>100万次 malloc/free pair, Stage 6 full notify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3657600" cy="38100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155448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472C4"/>
                </a:solidFill>
              </a:rPr>
              <a:t>21.2%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274320" y="21945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1T 提升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108960" y="155448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472C4"/>
                </a:solidFill>
              </a:rPr>
              <a:t>68.4%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108960" y="21945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4T 提升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0" y="155448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472C4"/>
                </a:solidFill>
              </a:rPr>
              <a:t>59.1%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5943600" y="21945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8T 提升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778240" y="155448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472C4"/>
                </a:solidFill>
              </a:rPr>
              <a:t>60.7%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778240" y="21945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16T 提升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560320"/>
          <a:ext cx="113385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834640"/>
                <a:gridCol w="2834640"/>
                <a:gridCol w="283464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Threads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No Batch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Batch=64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提升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1.545s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1.217s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↓ 21.2%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2.718s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0.859s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↓ 68.4%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3.121s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1.278s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↓ 59.1%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3.408s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1.340s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↓ 60.7%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548640" y="45720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585878"/>
                </a:solidFill>
              </a:rPr>
              <a:t>Batch-size sweep (8T): 4→1.83s  8→1.58s  16→1.44s  32→1.36s  64→1.26s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585878"/>
                </a:solidFill>
              </a:rPr>
              <a:t>Default-off 确认无误（env unset: 8T=3.39s, 16T=3.36s）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1E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StackWriter 模块级瓶颈定位 (sub-stage 34/35)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90A8"/>
                </a:solidFill>
              </a:rPr>
              <a:t>分离 ring write 内锁 vs eventfd 开销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3657600" cy="38100"/>
          </a:xfrm>
          <a:prstGeom prst="rect">
            <a:avLst/>
          </a:prstGeom>
          <a:solidFill>
            <a:srgbClr val="4472C4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17320"/>
          <a:ext cx="11338560" cy="914400"/>
        </p:xfrm>
        <a:graphic>
          <a:graphicData uri="http://schemas.openxmlformats.org/drawingml/2006/table">
            <a:tbl>
              <a:tblPr/>
              <a:tblGrid>
                <a:gridCol w="1889760"/>
                <a:gridCol w="1889760"/>
                <a:gridCol w="1889760"/>
                <a:gridCol w="1889760"/>
                <a:gridCol w="1889760"/>
                <a:gridCol w="18897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Sub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测量内容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1T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4T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8T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16T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34 write_only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ring write + inner mutex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8.60s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20.94s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27.40s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32.25s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35 flush_only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write + eventfd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9.15s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19.60s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23.94s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31.97s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33+batch64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批处理后完整链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1.24s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1.26s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1.37s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38912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585878"/>
                </a:solidFill>
              </a:rPr>
              <a:t>ring write 内锁占 ~97% (8.60s vs 9.15s)——eventfd 仅 ~3%，内锁是明确主瓶颈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585878"/>
                </a:solidFill>
              </a:rPr>
              <a:t>per-record 锁竞争随线程恶化（8T write 比 1T 慢 3.2x）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585878"/>
                </a:solidFill>
              </a:rPr>
              <a:t>batch64 把 1T 从 9.15s 压到 1.24s (7.4x), 8T 从 23.94s 压到 1.26s (19x)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585878"/>
                </a:solidFill>
              </a:rPr>
              <a:t>数据对标: ShareMemoryBlock::PutWithPayloadTimeout / EventNotifier::Post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1E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Prototype ↔ OpenHarmony 热路径对齐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90A8"/>
                </a:solidFill>
              </a:rPr>
              <a:t>重构后原型结构与真实代码在模块级别可比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3657600" cy="38100"/>
          </a:xfrm>
          <a:prstGeom prst="rect">
            <a:avLst/>
          </a:prstGeom>
          <a:solidFill>
            <a:srgbClr val="4472C4"/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17320"/>
          <a:ext cx="11338560" cy="914400"/>
        </p:xfrm>
        <a:graphic>
          <a:graphicData uri="http://schemas.openxmlformats.org/drawingml/2006/table">
            <a:tbl>
              <a:tblPr/>
              <a:tblGrid>
                <a:gridCol w="3779520"/>
                <a:gridCol w="3779520"/>
                <a:gridCol w="377952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热路径操作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Prototype (Plan B)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OpenHarmony (hook_client.cpp)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malloc/filter/sample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hook_writer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hook_malloc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re-entry guard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HookReentryGuard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__set_hook_flag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StackRawData fill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simplified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rawdata.{pid,tid,size,addr,ts}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AddressHandler tracking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address_handler.h ✅新增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AddAllocAddr()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StackWriter write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stack_writer.cpp ✅新增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WriteWithPayloadTimeout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StackWriter flush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Flush / FlushEventFd ✅新增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Flush → EventNotifier::Post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1E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OpenHarmony Fork — 移植状态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90A8"/>
                </a:solidFill>
              </a:rPr>
              <a:t>五个核心函数已全部覆盖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3657600" cy="38100"/>
          </a:xfrm>
          <a:prstGeom prst="rect">
            <a:avLst/>
          </a:prstGeom>
          <a:solidFill>
            <a:srgbClr val="4472C4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17320"/>
          <a:ext cx="113385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834640"/>
                <a:gridCol w="2834640"/>
                <a:gridCol w="283464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函数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调用场景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record-fill-before-lock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batch publish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hook_malloc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主分配路径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hook_calloc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C++ new 底层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hook_realloc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vector 扩容 (free+alloc双记录)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hook_aligned_alloc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对齐分配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hook_free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释放路径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85878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1148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585878"/>
                </a:solidFill>
              </a:rPr>
              <a:t>仓库: gitlab.youtune.tech/cychi/cyc_nativehook  (master 分支)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585878"/>
                </a:solidFill>
              </a:rPr>
              <a:t>待 OpenHarmony 编译环境到位后可 benchmark 验证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585878"/>
                </a:solidFill>
              </a:rPr>
              <a:t>未移植: PID/TID cache (已有), tracking fallback (架构不同)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1E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教训 &amp; 三步法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90A8"/>
                </a:solidFill>
              </a:rPr>
              <a:t>两个无效优化如何避免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3657600" cy="38100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463040"/>
            <a:ext cx="5303520" cy="3840480"/>
          </a:xfrm>
          <a:prstGeom prst="roundRect">
            <a:avLst>
              <a:gd name="adj" fmla="val 2857"/>
            </a:avLst>
          </a:prstGeom>
          <a:solidFill>
            <a:srgbClr val="FCEAE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6459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</a:rPr>
              <a:t>两个无效优化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103120"/>
            <a:ext cx="45720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200" dirty="0">
                <a:solidFill>
                  <a:srgbClr val="585878"/>
                </a:solidFill>
              </a:rPr>
              <a:t>PID/TID cache: 真实代码已有 pthread_getspecific + atomic load，原型重复开发</a:t>
            </a:r>
            <a:endParaRPr lang="en-US" sz="12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200" dirty="0">
                <a:solidFill>
                  <a:srgbClr val="585878"/>
                </a:solidFill>
              </a:rPr>
              <a:t>tracking fallback: 真实代码 free 不查 producer 端表，优化了一个不存在的瓶颈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035040" y="1463040"/>
            <a:ext cx="5669280" cy="3840480"/>
          </a:xfrm>
          <a:prstGeom prst="roundRect">
            <a:avLst>
              <a:gd name="adj" fmla="val 2857"/>
            </a:avLst>
          </a:prstGeom>
          <a:solidFill>
            <a:srgbClr val="E8F5EE"/>
          </a:solidFill>
          <a:ln/>
        </p:spPr>
      </p:sp>
      <p:sp>
        <p:nvSpPr>
          <p:cNvPr id="9" name="Text 7"/>
          <p:cNvSpPr/>
          <p:nvPr/>
        </p:nvSpPr>
        <p:spPr>
          <a:xfrm>
            <a:off x="6309360" y="16459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8C5E"/>
                </a:solidFill>
              </a:rPr>
              <a:t>新的三步法 (AGENTS.md)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103120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200" dirty="0">
                <a:solidFill>
                  <a:srgbClr val="585878"/>
                </a:solidFill>
              </a:rPr>
              <a:t>① 画映射表：原型每个模块 ↔ 真实代码 函数+行号</a:t>
            </a:r>
            <a:endParaRPr lang="en-US" sz="12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200" dirty="0">
                <a:solidFill>
                  <a:srgbClr val="585878"/>
                </a:solidFill>
              </a:rPr>
              <a:t>② 结构对齐：原型补缺失模块，实验数据精确对标</a:t>
            </a:r>
            <a:endParaRPr lang="en-US" sz="12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200" dirty="0">
                <a:solidFill>
                  <a:srgbClr val="585878"/>
                </a:solidFill>
              </a:rPr>
              <a:t>③ 三问预检：改哪个模块？对哪个函数？走这条路径？</a:t>
            </a:r>
            <a:endParaRPr lang="en-US" sz="12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200" dirty="0">
                <a:solidFill>
                  <a:srgbClr val="585878"/>
                </a:solidFill>
              </a:rPr>
              <a:t>   答不上来 → 不动手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1E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 Steps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3657600" cy="38100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4" name="Shape 2"/>
          <p:cNvSpPr/>
          <p:nvPr/>
        </p:nvSpPr>
        <p:spPr>
          <a:xfrm>
            <a:off x="2286000" y="1554480"/>
            <a:ext cx="777240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16200000">
              <a:srgbClr val="00000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468880" y="1737360"/>
            <a:ext cx="731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9090A8"/>
                </a:solidFill>
              </a:rPr>
              <a:t>1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3291840" y="182880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85878"/>
                </a:solidFill>
              </a:rPr>
              <a:t>Producer 继续拆: consumer 侧 profiling，完善 sub-stage 36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286000" y="3200400"/>
            <a:ext cx="777240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16200000">
              <a:srgbClr val="00000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68880" y="3383280"/>
            <a:ext cx="731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9090A8"/>
                </a:solidFill>
              </a:rPr>
              <a:t>2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3291840" y="347472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85878"/>
                </a:solidFill>
              </a:rPr>
              <a:t>真实代码验证: 等编译环境 → GitLab fork benchmark → 合 master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286000" y="4846320"/>
            <a:ext cx="777240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162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468880" y="5029200"/>
            <a:ext cx="731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9090A8"/>
                </a:solidFill>
              </a:rPr>
              <a:t>3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291840" y="512064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85878"/>
                </a:solidFill>
              </a:rPr>
              <a:t>eBPF 线 (如需): 上次遗留的高线程数重复实验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Producer Hot Path Progress</dc:title>
  <dc:subject>PptxGenJS Presentation</dc:subject>
  <dc:creator>陈一驰</dc:creator>
  <cp:lastModifiedBy>陈一驰</cp:lastModifiedBy>
  <cp:revision>1</cp:revision>
  <dcterms:created xsi:type="dcterms:W3CDTF">2026-06-02T07:53:32Z</dcterms:created>
  <dcterms:modified xsi:type="dcterms:W3CDTF">2026-06-02T07:53:32Z</dcterms:modified>
</cp:coreProperties>
</file>
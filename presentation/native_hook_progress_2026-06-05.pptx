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64592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1A1A2E"/>
                </a:solidFill>
              </a:rPr>
              <a:t>native_hook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914400" y="28346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2563EB"/>
                </a:solidFill>
              </a:rPr>
              <a:t>Producer Hot Path 优化进展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0" y="3383280"/>
            <a:ext cx="3931920" cy="3810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3749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888A8"/>
                </a:solidFill>
              </a:rPr>
              <a:t>2026.06.05  组会汇报  ·  陈一驰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上次组会反馈闭环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四个问题，逐一回应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" y="118872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1188720"/>
            <a:ext cx="5577840" cy="381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32588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RESOLVED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1627632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▸ "4T比1T多1.8s"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" y="2103120"/>
            <a:ext cx="5303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ring共享状态竞争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→ batch解决后 4T: 2.72s → 0.86s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26480" y="118872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26480" y="1188720"/>
            <a:ext cx="5577840" cy="381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6263640" y="132588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UPGRADED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263640" y="1627632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▸ "跑一下perf"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263640" y="2103120"/>
            <a:ext cx="5303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ablation替代perf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→ sub-stage 34/35 拆到模块内部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0040" y="379476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5240">
            <a:solidFill>
              <a:srgbClr val="EA580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" y="3794760"/>
            <a:ext cx="5577840" cy="3810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39319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COMPLETED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4233672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▸ "fork Gitee→GitLab"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57200" y="4709160"/>
            <a:ext cx="5303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5个核心函数全加batch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→ gitlab.youtune.tech/cychi/cyc_nativehook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26480" y="379476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5240">
            <a:solidFill>
              <a:srgbClr val="EA580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126480" y="3794760"/>
            <a:ext cx="5577840" cy="3810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24" name="Text 22"/>
          <p:cNvSpPr/>
          <p:nvPr/>
        </p:nvSpPr>
        <p:spPr>
          <a:xfrm>
            <a:off x="6263640" y="39319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VERIFIED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263640" y="4233672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▸ "4T eBPF异常快"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263640" y="4709160"/>
            <a:ext cx="5303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高线程验证: 8T eBPF=1.71s vs LD=4.27s (2.5x)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16T eBPF=1.47s vs LD=4.39s (3.0x)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eBPF per-CPU ringbuf 无共享竞争 → 详见 Slide 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Writer/Ring Impact 拆解实验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sub-stage 28~33 逐段测量，固定100万次malloc/free pair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920240"/>
                <a:gridCol w="1920240"/>
                <a:gridCol w="1920240"/>
                <a:gridCol w="1920240"/>
                <a:gridCol w="19202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Sub-stage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测量内容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1T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4T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8T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16T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28 no_ring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基线（无ring操作）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29 mutex_only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仅拿锁 + tracking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0.28s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0.62s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0.85s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1.12s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30 ring_index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+ ring index检查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0.45s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1.35s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1.92s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2.48s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31 record_copy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+ 记录拷贝到共享内存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0.68s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2.10s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2.85s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3.52s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32 atomic_pub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+ atomic write_index发布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0.75s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2.35s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3.10s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3.80s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33 full_notify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+ eventfd + consumer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2.72s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3.12s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3.41s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4805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多线程额外开销主要来自 ring index/copy 和 atomic publish——共享状态竞争逐步放大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notify/consumer 交互在 8T/16T 下显著抬头，是第二大开销源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Producer 端两项优化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缩短 per-record 共享路径开销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1280160"/>
            <a:ext cx="11612880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" y="1280160"/>
            <a:ext cx="109728" cy="2468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508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371600" y="14630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Record Fill Outside Writer Mutex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554480" y="1920240"/>
            <a:ext cx="9875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移出锁的操作: pid, tid, timestamp, type, size, addr 填充 + thread-name 更新</a:t>
            </a:r>
            <a:endParaRPr lang="en-US" sz="12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这些操作不碰共享状态——pid/tid 是 thread-local cache，timestamp 是 clock_gettime</a:t>
            </a:r>
            <a:endParaRPr lang="en-US" sz="12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原来锁内做: lock → fill → write_ring → notify → unlock</a:t>
            </a:r>
            <a:endParaRPr lang="en-US" sz="12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优化后: fill → lock → write_ring → notify → unlock</a:t>
            </a:r>
            <a:endParaRPr lang="en-US" sz="12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4T: 3.51s→2.72s (22.5%)    8T: 3.64s→3.12s (14.3%)</a:t>
            </a:r>
            <a:endParaRPr lang="en-US" sz="12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核心收益: 缩短锁内工作量 → 减少其他线程排队等锁时间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3749040"/>
            <a:ext cx="11612880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5240">
            <a:solidFill>
              <a:srgbClr val="EA580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4320" y="3749040"/>
            <a:ext cx="109728" cy="246888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39776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371600" y="39319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Stage 6  Batch  Publish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554480" y="4389120"/>
            <a:ext cx="9875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per-thread buffer (array&lt;HookRecord, 65&gt;) + counter</a:t>
            </a:r>
            <a:endParaRPr lang="en-US" sz="12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BufferStage6Record 累积 record; count &gt;= batch_size → FlushStage6Batch</a:t>
            </a:r>
            <a:endParaRPr lang="en-US" sz="12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Flush 内: 拿一次锁 → 批量写 ring → 一次 atomic publish → 一次 notify</a:t>
            </a:r>
            <a:endParaRPr lang="en-US" sz="12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析构函数在线程退出时自动 Flush 残留</a:t>
            </a:r>
            <a:endParaRPr lang="en-US" sz="12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env gate: LNHV1_STAGE6_BATCH_SIZE=1~64（默认0=关闭）</a:t>
            </a:r>
            <a:endParaRPr lang="en-US" sz="12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效果: 1T 1.55s→1.22s    8T 3.12s→1.28s    16T 3.41s→1.34s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Batch Publish — 工作原理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Per-Record  vs  Per-Batch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74320" y="114300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Per-Record（优化前）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4320" y="1600200"/>
            <a:ext cx="914400" cy="411480"/>
          </a:xfrm>
          <a:prstGeom prst="roundRect">
            <a:avLst>
              <a:gd name="adj" fmla="val 8889"/>
            </a:avLst>
          </a:prstGeom>
          <a:solidFill>
            <a:srgbClr val="2563EB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160020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record 1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188720" y="16459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554480" y="1600200"/>
            <a:ext cx="64008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54480" y="1600200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lock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194560" y="16459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560320" y="1600200"/>
            <a:ext cx="82296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60320" y="160020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write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383280" y="16459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749040" y="1600200"/>
            <a:ext cx="82296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49040" y="160020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notify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74320" y="2286000"/>
            <a:ext cx="914400" cy="411480"/>
          </a:xfrm>
          <a:prstGeom prst="roundRect">
            <a:avLst>
              <a:gd name="adj" fmla="val 8889"/>
            </a:avLst>
          </a:prstGeom>
          <a:solidFill>
            <a:srgbClr val="2563EB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" y="228600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record 2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188720" y="23317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1554480" y="2286000"/>
            <a:ext cx="64008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554480" y="2286000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lock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2194560" y="23317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2560320" y="2286000"/>
            <a:ext cx="82296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560320" y="228600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write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3383280" y="23317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3749040" y="2286000"/>
            <a:ext cx="82296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749040" y="228600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notify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274320" y="2971800"/>
            <a:ext cx="914400" cy="411480"/>
          </a:xfrm>
          <a:prstGeom prst="roundRect">
            <a:avLst>
              <a:gd name="adj" fmla="val 8889"/>
            </a:avLst>
          </a:prstGeom>
          <a:solidFill>
            <a:srgbClr val="2563EB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4320" y="297180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record 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1188720" y="30175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1554480" y="2971800"/>
            <a:ext cx="64008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554480" y="2971800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lock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2194560" y="30175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2560320" y="2971800"/>
            <a:ext cx="82296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60320" y="297180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write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3383280" y="30175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3749040" y="2971800"/>
            <a:ext cx="82296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749040" y="297180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notify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274320" y="3794760"/>
            <a:ext cx="914400" cy="320040"/>
          </a:xfrm>
          <a:prstGeom prst="roundRect">
            <a:avLst>
              <a:gd name="adj" fmla="val 11429"/>
            </a:avLst>
          </a:prstGeom>
          <a:solidFill>
            <a:srgbClr val="F0F0F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4320" y="37947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4A6A"/>
                </a:solidFill>
              </a:rPr>
              <a:t>...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274320" y="4206240"/>
            <a:ext cx="4297680" cy="320040"/>
          </a:xfrm>
          <a:prstGeom prst="roundRect">
            <a:avLst>
              <a:gd name="adj" fmla="val 11429"/>
            </a:avLst>
          </a:prstGeom>
          <a:solidFill>
            <a:srgbClr val="EEF2FF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74320" y="4206240"/>
            <a:ext cx="4297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4A6A"/>
                </a:solidFill>
              </a:rPr>
              <a:t>record → 每 percord 走一遍拿锁、写ring、通知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583680" y="114300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Per-Batch（batch=64 优化后）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6583680" y="1600200"/>
            <a:ext cx="914400" cy="411480"/>
          </a:xfrm>
          <a:prstGeom prst="roundRect">
            <a:avLst>
              <a:gd name="adj" fmla="val 8889"/>
            </a:avLst>
          </a:prstGeom>
          <a:solidFill>
            <a:srgbClr val="059669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83680" y="160020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record 1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583680" y="2286000"/>
            <a:ext cx="914400" cy="411480"/>
          </a:xfrm>
          <a:prstGeom prst="roundRect">
            <a:avLst>
              <a:gd name="adj" fmla="val 8889"/>
            </a:avLst>
          </a:prstGeom>
          <a:solidFill>
            <a:srgbClr val="059669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583680" y="228600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record 2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583680" y="2971800"/>
            <a:ext cx="914400" cy="411480"/>
          </a:xfrm>
          <a:prstGeom prst="roundRect">
            <a:avLst>
              <a:gd name="adj" fmla="val 8889"/>
            </a:avLst>
          </a:prstGeom>
          <a:solidFill>
            <a:srgbClr val="059669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83680" y="297180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record 3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583680" y="3794760"/>
            <a:ext cx="914400" cy="320040"/>
          </a:xfrm>
          <a:prstGeom prst="roundRect">
            <a:avLst>
              <a:gd name="adj" fmla="val 11429"/>
            </a:avLst>
          </a:prstGeom>
          <a:solidFill>
            <a:srgbClr val="F0F0F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583680" y="37947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4A6A"/>
                </a:solidFill>
              </a:rPr>
              <a:t>...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583680" y="3931920"/>
            <a:ext cx="914400" cy="411480"/>
          </a:xfrm>
          <a:prstGeom prst="roundRect">
            <a:avLst>
              <a:gd name="adj" fmla="val 8889"/>
            </a:avLst>
          </a:prstGeom>
          <a:solidFill>
            <a:srgbClr val="059669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83680" y="393192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record 64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772400" y="1737360"/>
            <a:ext cx="1463040" cy="2834640"/>
          </a:xfrm>
          <a:prstGeom prst="roundRect">
            <a:avLst>
              <a:gd name="adj" fmla="val 3750"/>
            </a:avLst>
          </a:prstGeom>
          <a:solidFill>
            <a:srgbClr val="F0FDF4"/>
          </a:solidFill>
          <a:ln w="19050">
            <a:solidFill>
              <a:srgbClr val="059669"/>
            </a:solidFill>
            <a:prstDash val="dash"/>
          </a:ln>
        </p:spPr>
      </p:sp>
      <p:sp>
        <p:nvSpPr>
          <p:cNvPr id="57" name="Text 55"/>
          <p:cNvSpPr/>
          <p:nvPr/>
        </p:nvSpPr>
        <p:spPr>
          <a:xfrm>
            <a:off x="7772400" y="2194560"/>
            <a:ext cx="1463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</a:rPr>
              <a:t>buffer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</a:rPr>
              <a:t>64 records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7772400" y="292608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4A6A"/>
                </a:solidFill>
              </a:rPr>
              <a:t>count++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7772400" y="338328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A580C"/>
                </a:solidFill>
              </a:rPr>
              <a:t>满 64 → flush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7772400" y="384048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4A6A"/>
                </a:solidFill>
              </a:rPr>
              <a:t>析构 → flush 残留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498080" y="1801368"/>
            <a:ext cx="274320" cy="393192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62" name="Shape 60"/>
          <p:cNvSpPr/>
          <p:nvPr/>
        </p:nvSpPr>
        <p:spPr>
          <a:xfrm>
            <a:off x="7498080" y="2487168"/>
            <a:ext cx="274320" cy="164592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63" name="Shape 61"/>
          <p:cNvSpPr/>
          <p:nvPr/>
        </p:nvSpPr>
        <p:spPr>
          <a:xfrm>
            <a:off x="7498080" y="3172968"/>
            <a:ext cx="274320" cy="-64008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64" name="Shape 62"/>
          <p:cNvSpPr/>
          <p:nvPr/>
        </p:nvSpPr>
        <p:spPr>
          <a:xfrm>
            <a:off x="9235440" y="2148840"/>
            <a:ext cx="27432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9509760" y="1920240"/>
            <a:ext cx="82296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9509760" y="192024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</a:rPr>
              <a:t>lock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</a:rPr>
              <a:t>1次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10332720" y="2057400"/>
            <a:ext cx="27432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68" name="Shape 66"/>
          <p:cNvSpPr/>
          <p:nvPr/>
        </p:nvSpPr>
        <p:spPr>
          <a:xfrm>
            <a:off x="10607040" y="1920240"/>
            <a:ext cx="82296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0607040" y="192024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</a:rPr>
              <a:t>write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</a:rPr>
              <a:t>64条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11521440" y="1965960"/>
            <a:ext cx="1371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9235440" y="3246120"/>
            <a:ext cx="27432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72" name="Shape 70"/>
          <p:cNvSpPr/>
          <p:nvPr/>
        </p:nvSpPr>
        <p:spPr>
          <a:xfrm>
            <a:off x="9509760" y="3017520"/>
            <a:ext cx="109728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9509760" y="30175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</a:rPr>
              <a:t>publish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</a:rPr>
              <a:t>1次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10607040" y="3154680"/>
            <a:ext cx="27432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75" name="Shape 73"/>
          <p:cNvSpPr/>
          <p:nvPr/>
        </p:nvSpPr>
        <p:spPr>
          <a:xfrm>
            <a:off x="10881360" y="3017520"/>
            <a:ext cx="82296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0881360" y="301752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</a:rPr>
              <a:t>notify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</a:rPr>
              <a:t>1次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274320" y="5669280"/>
            <a:ext cx="11521440" cy="594360"/>
          </a:xfrm>
          <a:prstGeom prst="roundRect">
            <a:avLst>
              <a:gd name="adj" fmla="val 6154"/>
            </a:avLst>
          </a:prstGeom>
          <a:solidFill>
            <a:srgbClr val="FFF7ED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57200" y="566928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即：100万次锁操作 → 1.5万次锁操作    100万次 atomic publish → 1.5万次    ~5万次 eventfd → ~780次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Batch Publish — Pink 验证数据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100万次固定负载  ·  Stage 6 full notify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74320" y="12344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21.2%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274320" y="2011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A8"/>
                </a:solidFill>
              </a:rPr>
              <a:t>1 Thread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00400" y="12344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68.4%</a:t>
            </a:r>
            <a:endParaRPr lang="en-US" sz="4600" dirty="0"/>
          </a:p>
        </p:txBody>
      </p:sp>
      <p:sp>
        <p:nvSpPr>
          <p:cNvPr id="10" name="Text 8"/>
          <p:cNvSpPr/>
          <p:nvPr/>
        </p:nvSpPr>
        <p:spPr>
          <a:xfrm>
            <a:off x="3200400" y="2011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A8"/>
                </a:solidFill>
              </a:rPr>
              <a:t>4 Threads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126480" y="12344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59.1%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6126480" y="2011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A8"/>
                </a:solidFill>
              </a:rPr>
              <a:t>8 Threads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052560" y="12344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60.7%</a:t>
            </a:r>
            <a:endParaRPr lang="en-US" sz="4600" dirty="0"/>
          </a:p>
        </p:txBody>
      </p:sp>
      <p:sp>
        <p:nvSpPr>
          <p:cNvPr id="14" name="Text 12"/>
          <p:cNvSpPr/>
          <p:nvPr/>
        </p:nvSpPr>
        <p:spPr>
          <a:xfrm>
            <a:off x="9052560" y="2011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A8"/>
                </a:solidFill>
              </a:rPr>
              <a:t>16 Threads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331720"/>
          <a:ext cx="11521440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2880360"/>
                <a:gridCol w="2880360"/>
                <a:gridCol w="28803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Threads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No Batch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Batch = 64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提升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1.545s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1.217s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↓ 21.2%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2.718s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0.859s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↓ 68.4%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3.121s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1.278s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↓ 59.1%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16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3.408s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1.340s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↓ 60.7%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457200" y="438912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Batch-size sweep (8T): 4→1.83s  8→1.58s  16→1.44s  32→1.36s  64→1.26s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Default-off 确认: env未设时 8T=3.39s, 16T=3.36s（行为不变）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eBPF 高线程验证 — 反超 LD_PRELOAD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per-CPU ringbuf 无共享竞争，高线程下优势显著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2304288"/>
                <a:gridCol w="2304288"/>
                <a:gridCol w="2304288"/>
                <a:gridCol w="2304288"/>
                <a:gridCol w="2304288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Threads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Run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eBPF uprobe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LD_PRELOAD optimized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eBPF 快多少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r1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1.76s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4.19s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2.4x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r2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1.67s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4.27s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2.6x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r3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1.71s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4.34s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2.5x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16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r1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1.47s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4.38s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3.0x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16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r2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1.47s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4.39s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3.0x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16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r3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1.48s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4.40s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3.0x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389120"/>
            <a:ext cx="109728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4A6A"/>
                </a:solidFill>
              </a:rPr>
              <a:t>上次组会: 4T eBPF 比 LD_PRELOAD 慢 0.18s，结论是"不适合替代"</a:t>
            </a:r>
            <a:endParaRPr lang="en-US" sz="13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4A6A"/>
                </a:solidFill>
              </a:rPr>
              <a:t>新增 8T/16T 实验 (三次重复): eBPF 全面反超，16T 下快 3 倍</a:t>
            </a:r>
            <a:endParaRPr lang="en-US" sz="13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4A6A"/>
                </a:solidFill>
              </a:rPr>
              <a:t>原因: eBPF per-CPU ringbuf 无共享锁竞争，而 LD_PRELOAD batch 仍有 per-batch 锁</a:t>
            </a:r>
            <a:endParaRPr lang="en-US" sz="13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4A6A"/>
                </a:solidFill>
              </a:rPr>
              <a:t>结论: 低线程 LD_PRELOAD 更好，高线程 eBPF 天花板更高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StackWriter 模块级瓶颈定位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sub-stage 34/35  ·  ring write 内锁 vs eventfd 开销分离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920240"/>
                <a:gridCol w="1920240"/>
                <a:gridCol w="1920240"/>
                <a:gridCol w="1920240"/>
                <a:gridCol w="19202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Sub-stage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测量内容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1T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4T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8T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16T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34 write_only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ring write + inner mutex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8.60s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20.94s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27.40s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32.25s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35 flush_only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write + eventfd 通知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9.15s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19.60s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23.94s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31.97s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33 + batch64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批处理后完整链路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1.26s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1.37s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389120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RING WRITE 内锁占比 ~97%（8.60s vs 9.15s）— eventfd 仅 ~3%，内锁是明确主瓶颈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per-record 锁竞争随线程恶化：8T write 比 1T 慢 3.2 倍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BATCH64 消除 per-record 锁: 1T 9.15s→1.24s (7.4x)   8T 23.94s→1.26s (19x)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对标真实代码: ShareMemoryBlock::PutWithPayloadTimeout / EventNotifier::Post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Prototype  ↔  OpenHarmony  架构对齐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热路径模块映射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840480"/>
                <a:gridCol w="38404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热路径操作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Prototype (Plan B)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OpenHarmony (hook_client.cpp)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malloc / filter / sample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hook_writer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hook_malloc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re-entry guard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HookReentryGuard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__set_hook_flag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StackRawData fill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simplified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rawdata.{pid, tid, size, addr, ts}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AddressHandler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address_handler.h  [NEW]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AddAllocAddr()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StackWriter write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stack_writer.cpp  [NEW]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WriteWithPayloadTimeout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StackWriter flush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Flush / FlushEventFd  [NEW]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Flush → EventNotifier::Post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OpenHarmony Fork — 优化移植状态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gitlab.youtune.tech/cychi/cyc_nativehook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2880360"/>
                <a:gridCol w="2880360"/>
                <a:gridCol w="28803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函数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调用场景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record-fill-before-lock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batch publish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hook_malloc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主分配路径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hook_calloc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C++ new 底层调用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hook_realloc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vector 扩容（free+alloc）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hook_aligned_alloc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对齐分配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hook_free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释放路径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384048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待 OpenHarmony 编译环境到位后可 benchmark 验证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未移植: PID/TID cache（已有）、tracking fallback（架构不同）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经验教训 &amp; 三步预检方法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两个无效优化如何发生，以及后续怎么避免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1234440"/>
            <a:ext cx="5349240" cy="4114800"/>
          </a:xfrm>
          <a:prstGeom prst="roundRect">
            <a:avLst>
              <a:gd name="adj" fmla="val 2222"/>
            </a:avLst>
          </a:prstGeom>
          <a:solidFill>
            <a:srgbClr val="FDF2F8"/>
          </a:solidFill>
          <a:ln w="15240">
            <a:solidFill>
              <a:srgbClr val="DB277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3716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B2777"/>
                </a:solidFill>
              </a:rPr>
              <a:t>失败的优化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2920" y="1691640"/>
            <a:ext cx="47548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PID/TID cache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真实代码已有 pthread_getspecific + atomic load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优化方向正确，但冗余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tracking fallback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free 记录直接发给 daemon 做匹配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producer 端不维护查表路径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优化了一个原型里才存在的瓶颈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897880" y="1234440"/>
            <a:ext cx="5989320" cy="4114800"/>
          </a:xfrm>
          <a:prstGeom prst="roundRect">
            <a:avLst>
              <a:gd name="adj" fmla="val 2222"/>
            </a:avLst>
          </a:prstGeom>
          <a:solidFill>
            <a:srgbClr val="ECFDF5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0" y="13716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</a:rPr>
              <a:t>三步预检法  [AGENTS.md]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126480" y="1691640"/>
            <a:ext cx="53035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①  画映射表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原型每个模块 ↔ 真实代码 函数+行号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②  结构对齐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原型补缺失模块，数据精确对标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③  三问预检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Q1: 改哪个原型模块？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Q2: 对应哪个真实函数？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Q3: 真实代码走不走这条路径？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→ 答不上来，不动手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Next Steps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1371600"/>
            <a:ext cx="103327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1371600"/>
            <a:ext cx="109728" cy="13716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Text 6"/>
          <p:cNvSpPr/>
          <p:nvPr/>
        </p:nvSpPr>
        <p:spPr>
          <a:xfrm>
            <a:off x="1234440" y="15087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2103120" y="1554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</a:rPr>
              <a:t>Producer 端继续拆解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103120" y="2011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6A"/>
                </a:solidFill>
              </a:rPr>
              <a:t>consumer 侧 profiling，完善 sub-stage 36 完整链测量数据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14400" y="3063240"/>
            <a:ext cx="103327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3063240"/>
            <a:ext cx="109728" cy="13716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3" name="Text 11"/>
          <p:cNvSpPr/>
          <p:nvPr/>
        </p:nvSpPr>
        <p:spPr>
          <a:xfrm>
            <a:off x="1234440" y="32004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2103120" y="32461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</a:rPr>
              <a:t>真实代码验证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103120" y="3703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6A"/>
                </a:solidFill>
              </a:rPr>
              <a:t>等待 OpenHarmony 编译环境 → GitLab fork benchmark → 合 master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14400" y="4754880"/>
            <a:ext cx="103327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4754880"/>
            <a:ext cx="109728" cy="13716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8" name="Text 16"/>
          <p:cNvSpPr/>
          <p:nvPr/>
        </p:nvSpPr>
        <p:spPr>
          <a:xfrm>
            <a:off x="1234440" y="48920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2103120" y="4937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</a:rPr>
              <a:t>eBPF 高线程验证结论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2103120" y="5394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6A"/>
                </a:solidFill>
              </a:rPr>
              <a:t>8T/16T 已确认：eBPF per-CPU ringbuf 反超 LD_PRELOAD 2.5~3x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A4A6A"/>
                </a:solidFill>
              </a:rPr>
              <a:t>如需进一步：评估 producer 端 eBPF 替代方案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native_hook Producer Hot Path Progress</dc:title>
  <dc:subject>PptxGenJS Presentation</dc:subject>
  <dc:creator>陈一驰</dc:creator>
  <cp:lastModifiedBy>陈一驰</cp:lastModifiedBy>
  <cp:revision>1</cp:revision>
  <dcterms:created xsi:type="dcterms:W3CDTF">2026-06-03T03:09:44Z</dcterms:created>
  <dcterms:modified xsi:type="dcterms:W3CDTF">2026-06-03T03:09:44Z</dcterms:modified>
</cp:coreProperties>
</file>
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40"/>
          </a:xfrm>
          <a:prstGeom prst="rect">
            <a:avLst/>
          </a:prstGeom>
          <a:solidFill>
            <a:srgbClr val="1E3045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88952" cy="2540"/>
          </a:xfrm>
          <a:prstGeom prst="rect">
            <a:avLst/>
          </a:prstGeom>
          <a:solidFill>
            <a:srgbClr val="1E3045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2103120"/>
            <a:ext cx="12188952" cy="2540"/>
          </a:xfrm>
          <a:prstGeom prst="rect">
            <a:avLst/>
          </a:prstGeom>
          <a:solidFill>
            <a:srgbClr val="1E3045">
              <a:alpha val="6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0" y="3154680"/>
            <a:ext cx="12188952" cy="2540"/>
          </a:xfrm>
          <a:prstGeom prst="rect">
            <a:avLst/>
          </a:prstGeom>
          <a:solidFill>
            <a:srgbClr val="1E3045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0" y="4206240"/>
            <a:ext cx="12188952" cy="2540"/>
          </a:xfrm>
          <a:prstGeom prst="rect">
            <a:avLst/>
          </a:prstGeom>
          <a:solidFill>
            <a:srgbClr val="1E3045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0" y="5257800"/>
            <a:ext cx="12188952" cy="2540"/>
          </a:xfrm>
          <a:prstGeom prst="rect">
            <a:avLst/>
          </a:prstGeom>
          <a:solidFill>
            <a:srgbClr val="1E3045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1645920"/>
            <a:ext cx="914400" cy="2926080"/>
          </a:xfrm>
          <a:prstGeom prst="rect">
            <a:avLst/>
          </a:prstGeom>
          <a:solidFill>
            <a:srgbClr val="173545"/>
          </a:solidFill>
          <a:ln/>
        </p:spPr>
      </p:sp>
      <p:sp>
        <p:nvSpPr>
          <p:cNvPr id="9" name="Shape 7"/>
          <p:cNvSpPr/>
          <p:nvPr/>
        </p:nvSpPr>
        <p:spPr>
          <a:xfrm>
            <a:off x="1371600" y="1645920"/>
            <a:ext cx="73152" cy="2926080"/>
          </a:xfrm>
          <a:prstGeom prst="roundRect">
            <a:avLst/>
          </a:prstGeom>
          <a:solidFill>
            <a:srgbClr val="2DE1FC"/>
          </a:solidFill>
          <a:ln/>
        </p:spPr>
      </p:sp>
      <p:sp>
        <p:nvSpPr>
          <p:cNvPr id="10" name="Text 8"/>
          <p:cNvSpPr/>
          <p:nvPr/>
        </p:nvSpPr>
        <p:spPr>
          <a:xfrm>
            <a:off x="201168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0F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native_hook</a:t>
            </a:r>
            <a:endParaRPr lang="en-US" sz="5800" dirty="0"/>
          </a:p>
        </p:txBody>
      </p:sp>
      <p:sp>
        <p:nvSpPr>
          <p:cNvPr id="11" name="Text 9"/>
          <p:cNvSpPr/>
          <p:nvPr/>
        </p:nvSpPr>
        <p:spPr>
          <a:xfrm>
            <a:off x="2011680" y="2880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E1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PRODUCER  HOT  PATH  ANALYSIS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011680" y="3474720"/>
            <a:ext cx="5029200" cy="1524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3" name="Text 11"/>
          <p:cNvSpPr/>
          <p:nvPr/>
        </p:nvSpPr>
        <p:spPr>
          <a:xfrm>
            <a:off x="201168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06080"/>
                </a:solidFill>
              </a:rPr>
              <a:t>2026.06.05  组会汇报  ·  陈一驰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28600"/>
            <a:ext cx="822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DE1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80160" y="274320"/>
            <a:ext cx="25400" cy="502920"/>
          </a:xfrm>
          <a:prstGeom prst="rect">
            <a:avLst/>
          </a:prstGeom>
          <a:solidFill>
            <a:srgbClr val="2DE1FC"/>
          </a:solidFill>
          <a:ln/>
        </p:spPr>
      </p:sp>
      <p:sp>
        <p:nvSpPr>
          <p:cNvPr id="4" name="Text 2"/>
          <p:cNvSpPr/>
          <p:nvPr/>
        </p:nvSpPr>
        <p:spPr>
          <a:xfrm>
            <a:off x="1463040" y="201168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F6FF"/>
                </a:solidFill>
              </a:rPr>
              <a:t>上次组会反馈闭环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463040" y="566928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6080"/>
                </a:solidFill>
              </a:rPr>
              <a:t>RESPONSE TO LAST MEETING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960120"/>
            <a:ext cx="12188952" cy="12700"/>
          </a:xfrm>
          <a:prstGeom prst="rect">
            <a:avLst/>
          </a:prstGeom>
          <a:solidFill>
            <a:srgbClr val="1E3045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1143000"/>
            <a:ext cx="5577840" cy="2286000"/>
          </a:xfrm>
          <a:prstGeom prst="roundRect">
            <a:avLst>
              <a:gd name="adj" fmla="val 3200"/>
            </a:avLst>
          </a:prstGeom>
          <a:solidFill>
            <a:srgbClr val="143525"/>
          </a:solidFill>
          <a:ln/>
        </p:spPr>
      </p:sp>
      <p:sp>
        <p:nvSpPr>
          <p:cNvPr id="8" name="Shape 6"/>
          <p:cNvSpPr/>
          <p:nvPr/>
        </p:nvSpPr>
        <p:spPr>
          <a:xfrm>
            <a:off x="320040" y="1143000"/>
            <a:ext cx="91440" cy="2286000"/>
          </a:xfrm>
          <a:prstGeom prst="rect">
            <a:avLst/>
          </a:prstGeom>
          <a:solidFill>
            <a:srgbClr val="3DFCB4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2801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DFC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94360" y="16002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6FF"/>
                </a:solidFill>
              </a:rPr>
              <a:t>▸ "4T比1T多1.8s"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94360" y="214884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8899B4"/>
                </a:solidFill>
              </a:rPr>
              <a:t>ring共享状态竞争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8899B4"/>
                </a:solidFill>
              </a:rPr>
              <a:t>→ batch解决后 4T: 2.72s → 0.86s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143000"/>
            <a:ext cx="5577840" cy="2286000"/>
          </a:xfrm>
          <a:prstGeom prst="roundRect">
            <a:avLst>
              <a:gd name="adj" fmla="val 3200"/>
            </a:avLst>
          </a:prstGeom>
          <a:solidFill>
            <a:srgbClr val="173545"/>
          </a:solidFill>
          <a:ln/>
        </p:spPr>
      </p:sp>
      <p:sp>
        <p:nvSpPr>
          <p:cNvPr id="13" name="Shape 11"/>
          <p:cNvSpPr/>
          <p:nvPr/>
        </p:nvSpPr>
        <p:spPr>
          <a:xfrm>
            <a:off x="6126480" y="1143000"/>
            <a:ext cx="91440" cy="2286000"/>
          </a:xfrm>
          <a:prstGeom prst="rect">
            <a:avLst/>
          </a:prstGeom>
          <a:solidFill>
            <a:srgbClr val="2DE1FC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2801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DE1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UPGRADED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6400800" y="16002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6FF"/>
                </a:solidFill>
              </a:rPr>
              <a:t>▸ "跑一下perf"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0" y="214884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8899B4"/>
                </a:solidFill>
              </a:rPr>
              <a:t>ablation替代perf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8899B4"/>
                </a:solidFill>
              </a:rPr>
              <a:t>→ sub-stage 34/35 拆到模块内部操作级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703320"/>
            <a:ext cx="5577840" cy="2286000"/>
          </a:xfrm>
          <a:prstGeom prst="roundRect">
            <a:avLst>
              <a:gd name="adj" fmla="val 3200"/>
            </a:avLst>
          </a:prstGeom>
          <a:solidFill>
            <a:srgbClr val="302015"/>
          </a:solidFill>
          <a:ln/>
        </p:spPr>
      </p:sp>
      <p:sp>
        <p:nvSpPr>
          <p:cNvPr id="18" name="Shape 16"/>
          <p:cNvSpPr/>
          <p:nvPr/>
        </p:nvSpPr>
        <p:spPr>
          <a:xfrm>
            <a:off x="320040" y="3703320"/>
            <a:ext cx="91440" cy="228600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38404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COMPLETED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94360" y="4160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6FF"/>
                </a:solidFill>
              </a:rPr>
              <a:t>▸ "fork Gitee → GitLab"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470916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8899B4"/>
                </a:solidFill>
              </a:rPr>
              <a:t>5个核心函数全加batch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8899B4"/>
                </a:solidFill>
              </a:rPr>
              <a:t>→ gitlab.youtune.tech/cychi/cyc_nativehook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26480" y="3703320"/>
            <a:ext cx="5577840" cy="2286000"/>
          </a:xfrm>
          <a:prstGeom prst="roundRect">
            <a:avLst>
              <a:gd name="adj" fmla="val 3200"/>
            </a:avLst>
          </a:prstGeom>
          <a:solidFill>
            <a:srgbClr val="201830"/>
          </a:solidFill>
          <a:ln/>
        </p:spPr>
      </p:sp>
      <p:sp>
        <p:nvSpPr>
          <p:cNvPr id="23" name="Shape 21"/>
          <p:cNvSpPr/>
          <p:nvPr/>
        </p:nvSpPr>
        <p:spPr>
          <a:xfrm>
            <a:off x="6126480" y="3703320"/>
            <a:ext cx="91440" cy="2286000"/>
          </a:xfrm>
          <a:prstGeom prst="rect">
            <a:avLst/>
          </a:prstGeom>
          <a:solidFill>
            <a:srgbClr val="C4A0FF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0" y="38404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C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PAUSED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400800" y="4160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6FF"/>
                </a:solidFill>
              </a:rPr>
              <a:t>▸ "4T eBPF异常快"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0" y="470916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8899B4"/>
                </a:solidFill>
              </a:rPr>
              <a:t>本轮聚焦producer端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8899B4"/>
                </a:solidFill>
              </a:rPr>
              <a:t>eBPF线暂停，待后续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28600"/>
            <a:ext cx="822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DE1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80160" y="274320"/>
            <a:ext cx="25400" cy="502920"/>
          </a:xfrm>
          <a:prstGeom prst="rect">
            <a:avLst/>
          </a:prstGeom>
          <a:solidFill>
            <a:srgbClr val="2DE1FC"/>
          </a:solidFill>
          <a:ln/>
        </p:spPr>
      </p:sp>
      <p:sp>
        <p:nvSpPr>
          <p:cNvPr id="4" name="Text 2"/>
          <p:cNvSpPr/>
          <p:nvPr/>
        </p:nvSpPr>
        <p:spPr>
          <a:xfrm>
            <a:off x="1463040" y="201168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F6FF"/>
                </a:solidFill>
              </a:rPr>
              <a:t>Writer/Ring Impact 拆解实验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463040" y="566928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6080"/>
                </a:solidFill>
              </a:rPr>
              <a:t>SUB-STAGE 28~33  ·  100万次 malloc/free pair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960120"/>
            <a:ext cx="12188952" cy="12700"/>
          </a:xfrm>
          <a:prstGeom prst="rect">
            <a:avLst/>
          </a:prstGeom>
          <a:solidFill>
            <a:srgbClr val="1E3045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11430000" cy="914400"/>
        </p:xfrm>
        <a:graphic>
          <a:graphicData uri="http://schemas.openxmlformats.org/drawingml/2006/table">
            <a:tbl>
              <a:tblPr/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E1FC"/>
                          </a:solidFill>
                        </a:rPr>
                        <a:t>Sub-stage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E1FC"/>
                          </a:solidFill>
                        </a:rPr>
                        <a:t>测量内容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E1FC"/>
                          </a:solidFill>
                        </a:rPr>
                        <a:t>1T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E1FC"/>
                          </a:solidFill>
                        </a:rPr>
                        <a:t>4T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E1FC"/>
                          </a:solidFill>
                        </a:rPr>
                        <a:t>8T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E1FC"/>
                          </a:solidFill>
                        </a:rPr>
                        <a:t>16T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28 no_ring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基线（无ring操作）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FCB4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29 mutex_only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仅拿锁 + tracking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0.28s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0.62s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0.85s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FCB4"/>
                          </a:solidFill>
                        </a:rPr>
                        <a:t>1.12s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30 ring_index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+ ring index检查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0.45s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1.35s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1.92s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FCB4"/>
                          </a:solidFill>
                        </a:rPr>
                        <a:t>2.48s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31 record_copy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+ 记录拷贝到共享内存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0.68s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2.10s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2.85s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FCB4"/>
                          </a:solidFill>
                        </a:rPr>
                        <a:t>3.52s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32 atomic_pub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+ atomic write_index发布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0.75s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2.35s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3.10s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FCB4"/>
                          </a:solidFill>
                        </a:rPr>
                        <a:t>3.80s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33 full_notify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+ eventfd通知 + consumer交互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1.24s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2.72s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3.12s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FCB4"/>
                          </a:solidFill>
                        </a:rPr>
                        <a:t>3.41s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891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r>
              <a:rPr lang="en-US" sz="1100" dirty="0">
                <a:solidFill>
                  <a:srgbClr val="8899B4"/>
                </a:solidFill>
              </a:rPr>
              <a:t>多线程额外开销主要来自 ring index/copy 和 atomic publish——共享状态竞争逐步放大</a:t>
            </a:r>
            <a:endParaRPr lang="en-US" sz="1100" dirty="0"/>
          </a:p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r>
              <a:rPr lang="en-US" sz="1100" dirty="0">
                <a:solidFill>
                  <a:srgbClr val="8899B4"/>
                </a:solidFill>
              </a:rPr>
              <a:t>notify/consumer 交互在 8T/16T 下显著抬头，是第二大开销源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28600"/>
            <a:ext cx="822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DE1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80160" y="274320"/>
            <a:ext cx="25400" cy="502920"/>
          </a:xfrm>
          <a:prstGeom prst="rect">
            <a:avLst/>
          </a:prstGeom>
          <a:solidFill>
            <a:srgbClr val="2DE1FC"/>
          </a:solidFill>
          <a:ln/>
        </p:spPr>
      </p:sp>
      <p:sp>
        <p:nvSpPr>
          <p:cNvPr id="4" name="Text 2"/>
          <p:cNvSpPr/>
          <p:nvPr/>
        </p:nvSpPr>
        <p:spPr>
          <a:xfrm>
            <a:off x="1463040" y="201168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F6FF"/>
                </a:solidFill>
              </a:rPr>
              <a:t>Producer 端三项优化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463040" y="566928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6080"/>
                </a:solidFill>
              </a:rPr>
              <a:t>PER-RECORD OVERHEAD  ·  OPTIMIZATION PIPELINE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960120"/>
            <a:ext cx="12188952" cy="12700"/>
          </a:xfrm>
          <a:prstGeom prst="rect">
            <a:avLst/>
          </a:prstGeom>
          <a:solidFill>
            <a:srgbClr val="1E3045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1143000"/>
            <a:ext cx="11521440" cy="1554480"/>
          </a:xfrm>
          <a:prstGeom prst="roundRect">
            <a:avLst>
              <a:gd name="adj" fmla="val 4706"/>
            </a:avLst>
          </a:prstGeom>
          <a:solidFill>
            <a:srgbClr val="162230"/>
          </a:solidFill>
          <a:ln/>
        </p:spPr>
      </p:sp>
      <p:sp>
        <p:nvSpPr>
          <p:cNvPr id="8" name="Shape 6"/>
          <p:cNvSpPr/>
          <p:nvPr/>
        </p:nvSpPr>
        <p:spPr>
          <a:xfrm>
            <a:off x="320040" y="1143000"/>
            <a:ext cx="91440" cy="1554480"/>
          </a:xfrm>
          <a:prstGeom prst="rect">
            <a:avLst/>
          </a:prstGeom>
          <a:solidFill>
            <a:srgbClr val="2DE1FC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258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E1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463040" y="1280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E1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NOTIFY OUTSIDE MUTEX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645920" y="164592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r>
              <a:rPr lang="en-US" sz="1100" dirty="0">
                <a:solidFill>
                  <a:srgbClr val="8899B4"/>
                </a:solidFill>
              </a:rPr>
              <a:t>eventfd 写入移出 writer 锁临界区</a:t>
            </a:r>
            <a:endParaRPr lang="en-US" sz="1100" dirty="0"/>
          </a:p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r>
              <a:rPr lang="en-US" sz="1100" dirty="0">
                <a:solidFill>
                  <a:srgbClr val="8899B4"/>
                </a:solidFill>
              </a:rPr>
              <a:t>8T: 3.12s→2.85s    16T: 3.41s→2.98s</a:t>
            </a:r>
            <a:endParaRPr lang="en-US" sz="1100" dirty="0"/>
          </a:p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r>
              <a:rPr lang="en-US" sz="1100" dirty="0">
                <a:solidFill>
                  <a:srgbClr val="8899B4"/>
                </a:solidFill>
              </a:rPr>
              <a:t>减少持锁时间，多线程有效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926080"/>
            <a:ext cx="11521440" cy="1554480"/>
          </a:xfrm>
          <a:prstGeom prst="roundRect">
            <a:avLst>
              <a:gd name="adj" fmla="val 4706"/>
            </a:avLst>
          </a:prstGeom>
          <a:solidFill>
            <a:srgbClr val="162230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926080"/>
            <a:ext cx="91440" cy="1554480"/>
          </a:xfrm>
          <a:prstGeom prst="rect">
            <a:avLst/>
          </a:prstGeom>
          <a:solidFill>
            <a:srgbClr val="3DFCB4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108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FC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463040" y="30632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C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 FILL OUTSIDE MUTEX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645920" y="342900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r>
              <a:rPr lang="en-US" sz="1100" dirty="0">
                <a:solidFill>
                  <a:srgbClr val="8899B4"/>
                </a:solidFill>
              </a:rPr>
              <a:t>record 元数据填充移出锁</a:t>
            </a:r>
            <a:endParaRPr lang="en-US" sz="1100" dirty="0"/>
          </a:p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r>
              <a:rPr lang="en-US" sz="1100" dirty="0">
                <a:solidFill>
                  <a:srgbClr val="8899B4"/>
                </a:solidFill>
              </a:rPr>
              <a:t>4T: 3.51s→2.72s (22.5%)    8T: 3.64s→3.12s (14.3%)</a:t>
            </a:r>
            <a:endParaRPr lang="en-US" sz="1100" dirty="0"/>
          </a:p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r>
              <a:rPr lang="en-US" sz="1100" dirty="0">
                <a:solidFill>
                  <a:srgbClr val="8899B4"/>
                </a:solidFill>
              </a:rPr>
              <a:t>缩短临界区 = 减少竞争窗口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4709160"/>
            <a:ext cx="11521440" cy="1554480"/>
          </a:xfrm>
          <a:prstGeom prst="roundRect">
            <a:avLst>
              <a:gd name="adj" fmla="val 4706"/>
            </a:avLst>
          </a:prstGeom>
          <a:solidFill>
            <a:srgbClr val="162230"/>
          </a:solidFill>
          <a:ln/>
        </p:spPr>
      </p:sp>
      <p:sp>
        <p:nvSpPr>
          <p:cNvPr id="18" name="Shape 16"/>
          <p:cNvSpPr/>
          <p:nvPr/>
        </p:nvSpPr>
        <p:spPr>
          <a:xfrm>
            <a:off x="320040" y="4709160"/>
            <a:ext cx="91440" cy="155448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8920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463040" y="4846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★  STAGE 6  BATCH  PUBLISH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645920" y="521208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r>
              <a:rPr lang="en-US" sz="1100" dirty="0">
                <a:solidFill>
                  <a:srgbClr val="8899B4"/>
                </a:solidFill>
              </a:rPr>
              <a:t>per-thread buffer → 一次拿锁批量写 → 一次 atomic publish → 一次 notify</a:t>
            </a:r>
            <a:endParaRPr lang="en-US" sz="1100" dirty="0"/>
          </a:p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r>
              <a:rPr lang="en-US" sz="1100" dirty="0">
                <a:solidFill>
                  <a:srgbClr val="8899B4"/>
                </a:solidFill>
              </a:rPr>
              <a:t>1T: 1.55s→1.22s    8T: 3.12s→1.28s    16T: 3.41s→1.34s</a:t>
            </a:r>
            <a:endParaRPr lang="en-US" sz="1100" dirty="0"/>
          </a:p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r>
              <a:rPr lang="en-US" sz="1100" dirty="0">
                <a:solidFill>
                  <a:srgbClr val="8899B4"/>
                </a:solidFill>
              </a:rPr>
              <a:t>env gate:  LNHV1_STAGE6_BATCH_SIZE = &lt;1..64&gt;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28600"/>
            <a:ext cx="822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DE1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80160" y="274320"/>
            <a:ext cx="25400" cy="502920"/>
          </a:xfrm>
          <a:prstGeom prst="rect">
            <a:avLst/>
          </a:prstGeom>
          <a:solidFill>
            <a:srgbClr val="2DE1FC"/>
          </a:solidFill>
          <a:ln/>
        </p:spPr>
      </p:sp>
      <p:sp>
        <p:nvSpPr>
          <p:cNvPr id="4" name="Text 2"/>
          <p:cNvSpPr/>
          <p:nvPr/>
        </p:nvSpPr>
        <p:spPr>
          <a:xfrm>
            <a:off x="1463040" y="201168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F6FF"/>
                </a:solidFill>
              </a:rPr>
              <a:t>Batch Publish — Pink 验证数据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463040" y="566928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6080"/>
                </a:solidFill>
              </a:rPr>
              <a:t>100万次固定负载  ·  Stage 6 full notify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960120"/>
            <a:ext cx="12188952" cy="12700"/>
          </a:xfrm>
          <a:prstGeom prst="rect">
            <a:avLst/>
          </a:prstGeom>
          <a:solidFill>
            <a:srgbClr val="1E3045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23444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DE1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21.2%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32004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06080"/>
                </a:solidFill>
              </a:rPr>
              <a:t>1 Thread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200400" y="123444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DE1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68.4%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320040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06080"/>
                </a:solidFill>
              </a:rPr>
              <a:t>4 Threads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126480" y="123444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DE1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59.1%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612648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06080"/>
                </a:solidFill>
              </a:rPr>
              <a:t>8 Threads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052560" y="123444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DE1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60.7%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905256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06080"/>
                </a:solidFill>
              </a:rPr>
              <a:t>16 Threads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286000"/>
          <a:ext cx="11430000" cy="914400"/>
        </p:xfrm>
        <a:graphic>
          <a:graphicData uri="http://schemas.openxmlformats.org/drawingml/2006/table">
            <a:tbl>
              <a:tblPr/>
              <a:tblGrid>
                <a:gridCol w="2857500"/>
                <a:gridCol w="2857500"/>
                <a:gridCol w="2857500"/>
                <a:gridCol w="285750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E1FC"/>
                          </a:solidFill>
                        </a:rPr>
                        <a:t>Threads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E1FC"/>
                          </a:solidFill>
                        </a:rPr>
                        <a:t>No Batch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E1FC"/>
                          </a:solidFill>
                        </a:rPr>
                        <a:t>Batch = 64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E1FC"/>
                          </a:solidFill>
                        </a:rPr>
                        <a:t>提升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1.545s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1.217s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FCB4"/>
                          </a:solidFill>
                        </a:rPr>
                        <a:t>↓ 21.2%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2.718s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0.859s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FCB4"/>
                          </a:solidFill>
                        </a:rPr>
                        <a:t>↓ 68.4%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3.121s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1.278s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FCB4"/>
                          </a:solidFill>
                        </a:rPr>
                        <a:t>↓ 59.1%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3.408s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1.340s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FCB4"/>
                          </a:solidFill>
                        </a:rPr>
                        <a:t>↓ 60.7%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457200" y="43891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r>
              <a:rPr lang="en-US" sz="1100" dirty="0">
                <a:solidFill>
                  <a:srgbClr val="8899B4"/>
                </a:solidFill>
              </a:rPr>
              <a:t>Batch-size sweep (8T): 4→1.83s  8→1.58s  16→1.44s  32→1.36s  64→1.26s</a:t>
            </a:r>
            <a:endParaRPr lang="en-US" sz="1100" dirty="0"/>
          </a:p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r>
              <a:rPr lang="en-US" sz="1100" dirty="0">
                <a:solidFill>
                  <a:srgbClr val="8899B4"/>
                </a:solidFill>
              </a:rPr>
              <a:t>Default-off 确认: env未设时 8T=3.39s, 16T=3.36s（行为不变）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28600"/>
            <a:ext cx="822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DE1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80160" y="274320"/>
            <a:ext cx="25400" cy="502920"/>
          </a:xfrm>
          <a:prstGeom prst="rect">
            <a:avLst/>
          </a:prstGeom>
          <a:solidFill>
            <a:srgbClr val="2DE1FC"/>
          </a:solidFill>
          <a:ln/>
        </p:spPr>
      </p:sp>
      <p:sp>
        <p:nvSpPr>
          <p:cNvPr id="4" name="Text 2"/>
          <p:cNvSpPr/>
          <p:nvPr/>
        </p:nvSpPr>
        <p:spPr>
          <a:xfrm>
            <a:off x="1463040" y="201168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F6FF"/>
                </a:solidFill>
              </a:rPr>
              <a:t>StackWriter 模块级瓶颈定位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463040" y="566928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6080"/>
                </a:solidFill>
              </a:rPr>
              <a:t>SUB-STAGE 34/35  ·  RING WRITE vs EVENTFD 开销分离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960120"/>
            <a:ext cx="12188952" cy="12700"/>
          </a:xfrm>
          <a:prstGeom prst="rect">
            <a:avLst/>
          </a:prstGeom>
          <a:solidFill>
            <a:srgbClr val="1E3045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11430000" cy="914400"/>
        </p:xfrm>
        <a:graphic>
          <a:graphicData uri="http://schemas.openxmlformats.org/drawingml/2006/table">
            <a:tbl>
              <a:tblPr/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E1FC"/>
                          </a:solidFill>
                        </a:rPr>
                        <a:t>Sub-stage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E1FC"/>
                          </a:solidFill>
                        </a:rPr>
                        <a:t>测量内容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E1FC"/>
                          </a:solidFill>
                        </a:rPr>
                        <a:t>1T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E1FC"/>
                          </a:solidFill>
                        </a:rPr>
                        <a:t>4T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E1FC"/>
                          </a:solidFill>
                        </a:rPr>
                        <a:t>8T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E1FC"/>
                          </a:solidFill>
                        </a:rPr>
                        <a:t>16T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34 write_only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ring write + inner mutex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8.60s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20.94s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27.40s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FCB4"/>
                          </a:solidFill>
                        </a:rPr>
                        <a:t>32.25s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35 flush_only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write + eventfd 通知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9.15s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19.60s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23.94s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FCB4"/>
                          </a:solidFill>
                        </a:rPr>
                        <a:t>31.97s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33 + batch64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批处理后完整链路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1.24s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1.26s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FCB4"/>
                          </a:solidFill>
                        </a:rPr>
                        <a:t>1.37s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8912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r>
              <a:rPr lang="en-US" sz="1100" dirty="0">
                <a:solidFill>
                  <a:srgbClr val="8899B4"/>
                </a:solidFill>
              </a:rPr>
              <a:t>RING WRITE 内锁占比 ~97%（8.60s vs 9.15s）—— eventfd 仅 ~3%，内锁是明确主瓶颈</a:t>
            </a:r>
            <a:endParaRPr lang="en-US" sz="1100" dirty="0"/>
          </a:p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r>
              <a:rPr lang="en-US" sz="1100" dirty="0">
                <a:solidFill>
                  <a:srgbClr val="8899B4"/>
                </a:solidFill>
              </a:rPr>
              <a:t>per-record 锁竞争随线程恶化：8T write 比 1T 慢 3.2 倍</a:t>
            </a:r>
            <a:endParaRPr lang="en-US" sz="1100" dirty="0"/>
          </a:p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r>
              <a:rPr lang="en-US" sz="1100" dirty="0">
                <a:solidFill>
                  <a:srgbClr val="8899B4"/>
                </a:solidFill>
              </a:rPr>
              <a:t>BATCH64 消除 per-record 锁:  1T  9.15s→1.24s (7.4x)    8T  23.94s→1.26s (19x)</a:t>
            </a:r>
            <a:endParaRPr lang="en-US" sz="1100" dirty="0"/>
          </a:p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r>
              <a:rPr lang="en-US" sz="1100" dirty="0">
                <a:solidFill>
                  <a:srgbClr val="8899B4"/>
                </a:solidFill>
              </a:rPr>
              <a:t>对标真实代码:  ShareMemoryBlock::PutWithPayloadTimeout  /  EventNotifier::Post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28600"/>
            <a:ext cx="822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DE1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80160" y="274320"/>
            <a:ext cx="25400" cy="502920"/>
          </a:xfrm>
          <a:prstGeom prst="rect">
            <a:avLst/>
          </a:prstGeom>
          <a:solidFill>
            <a:srgbClr val="2DE1FC"/>
          </a:solidFill>
          <a:ln/>
        </p:spPr>
      </p:sp>
      <p:sp>
        <p:nvSpPr>
          <p:cNvPr id="4" name="Text 2"/>
          <p:cNvSpPr/>
          <p:nvPr/>
        </p:nvSpPr>
        <p:spPr>
          <a:xfrm>
            <a:off x="1463040" y="201168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F6FF"/>
                </a:solidFill>
              </a:rPr>
              <a:t>Prototype  ↔  OpenHarmony  架构对齐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463040" y="566928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6080"/>
                </a:solidFill>
              </a:rPr>
              <a:t>HOT PATH MODULE MAPPING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960120"/>
            <a:ext cx="12188952" cy="12700"/>
          </a:xfrm>
          <a:prstGeom prst="rect">
            <a:avLst/>
          </a:prstGeom>
          <a:solidFill>
            <a:srgbClr val="1E3045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11430000" cy="914400"/>
        </p:xfrm>
        <a:graphic>
          <a:graphicData uri="http://schemas.openxmlformats.org/drawingml/2006/table">
            <a:tbl>
              <a:tblPr/>
              <a:tblGrid>
                <a:gridCol w="3810000"/>
                <a:gridCol w="3810000"/>
                <a:gridCol w="381000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E1FC"/>
                          </a:solidFill>
                        </a:rPr>
                        <a:t>热路径操作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E1FC"/>
                          </a:solidFill>
                        </a:rPr>
                        <a:t>Prototype (Plan B)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E1FC"/>
                          </a:solidFill>
                        </a:rPr>
                        <a:t>OpenHarmony (hook_client.cpp)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malloc / filter / sample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hook_writer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FCB4"/>
                          </a:solidFill>
                        </a:rPr>
                        <a:t>hook_malloc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re-entry guard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HookReentryGuard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FCB4"/>
                          </a:solidFill>
                        </a:rPr>
                        <a:t>__set_hook_flag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StackRawData fill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simplified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FCB4"/>
                          </a:solidFill>
                        </a:rPr>
                        <a:t>rawdata.{pid, tid, size, addr, ts}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AddressHandler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address_handler.h  [NEW]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FCB4"/>
                          </a:solidFill>
                        </a:rPr>
                        <a:t>AddAllocAddr()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StackWriter write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stack_writer.cpp  [NEW]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FCB4"/>
                          </a:solidFill>
                        </a:rPr>
                        <a:t>WriteWithPayloadTimeout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StackWriter flush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Flush / FlushEventFd  [NEW]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FCB4"/>
                          </a:solidFill>
                        </a:rPr>
                        <a:t>Flush → EventNotifier::Post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28600"/>
            <a:ext cx="822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DE1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80160" y="274320"/>
            <a:ext cx="25400" cy="502920"/>
          </a:xfrm>
          <a:prstGeom prst="rect">
            <a:avLst/>
          </a:prstGeom>
          <a:solidFill>
            <a:srgbClr val="2DE1FC"/>
          </a:solidFill>
          <a:ln/>
        </p:spPr>
      </p:sp>
      <p:sp>
        <p:nvSpPr>
          <p:cNvPr id="4" name="Text 2"/>
          <p:cNvSpPr/>
          <p:nvPr/>
        </p:nvSpPr>
        <p:spPr>
          <a:xfrm>
            <a:off x="1463040" y="201168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F6FF"/>
                </a:solidFill>
              </a:rPr>
              <a:t>OpenHarmony Fork — 优化移植状态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463040" y="566928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6080"/>
                </a:solidFill>
              </a:rPr>
              <a:t>gitlab.youtune.tech/cychi/cyc_nativehook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960120"/>
            <a:ext cx="12188952" cy="12700"/>
          </a:xfrm>
          <a:prstGeom prst="rect">
            <a:avLst/>
          </a:prstGeom>
          <a:solidFill>
            <a:srgbClr val="1E3045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11430000" cy="914400"/>
        </p:xfrm>
        <a:graphic>
          <a:graphicData uri="http://schemas.openxmlformats.org/drawingml/2006/table">
            <a:tbl>
              <a:tblPr/>
              <a:tblGrid>
                <a:gridCol w="2857500"/>
                <a:gridCol w="2857500"/>
                <a:gridCol w="2857500"/>
                <a:gridCol w="285750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E1FC"/>
                          </a:solidFill>
                        </a:rPr>
                        <a:t>函数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E1FC"/>
                          </a:solidFill>
                        </a:rPr>
                        <a:t>调用场景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E1FC"/>
                          </a:solidFill>
                        </a:rPr>
                        <a:t>record-fill-before-lock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E1FC"/>
                          </a:solidFill>
                        </a:rPr>
                        <a:t>batch publish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hook_malloc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主分配路径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✓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FCB4"/>
                          </a:solidFill>
                        </a:rPr>
                        <a:t>✓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hook_calloc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C++ new 底层调用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✓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FCB4"/>
                          </a:solidFill>
                        </a:rPr>
                        <a:t>✓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hook_realloc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vector 扩容（free+alloc）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✓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FCB4"/>
                          </a:solidFill>
                        </a:rPr>
                        <a:t>✓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hook_aligned_alloc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对齐分配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✓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FCB4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B3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hook_free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释放路径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99B4"/>
                          </a:solidFill>
                        </a:rPr>
                        <a:t>✓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FCB4"/>
                          </a:solidFill>
                        </a:rPr>
                        <a:t>✓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30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0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8404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r>
              <a:rPr lang="en-US" sz="1100" dirty="0">
                <a:solidFill>
                  <a:srgbClr val="8899B4"/>
                </a:solidFill>
              </a:rPr>
              <a:t>待 OpenHarmony 编译环境到位后可 benchmark 验证</a:t>
            </a:r>
            <a:endParaRPr lang="en-US" sz="1100" dirty="0"/>
          </a:p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r>
              <a:rPr lang="en-US" sz="1100" dirty="0">
                <a:solidFill>
                  <a:srgbClr val="8899B4"/>
                </a:solidFill>
              </a:rPr>
              <a:t>未移植:  PID/TID cache（真实代码已有）  /  tracking fallback（架构不同，不适用）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28600"/>
            <a:ext cx="822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DE1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80160" y="274320"/>
            <a:ext cx="25400" cy="502920"/>
          </a:xfrm>
          <a:prstGeom prst="rect">
            <a:avLst/>
          </a:prstGeom>
          <a:solidFill>
            <a:srgbClr val="2DE1FC"/>
          </a:solidFill>
          <a:ln/>
        </p:spPr>
      </p:sp>
      <p:sp>
        <p:nvSpPr>
          <p:cNvPr id="4" name="Text 2"/>
          <p:cNvSpPr/>
          <p:nvPr/>
        </p:nvSpPr>
        <p:spPr>
          <a:xfrm>
            <a:off x="1463040" y="201168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F6FF"/>
                </a:solidFill>
              </a:rPr>
              <a:t>经验教训 &amp; 三步预检方法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463040" y="566928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06080"/>
                </a:solidFill>
              </a:rPr>
              <a:t>FAILED OPTIMIZATIONS  +  PRE-FLIGHT CHECKLIST  [AGENTS.md]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960120"/>
            <a:ext cx="12188952" cy="12700"/>
          </a:xfrm>
          <a:prstGeom prst="rect">
            <a:avLst/>
          </a:prstGeom>
          <a:solidFill>
            <a:srgbClr val="1E304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234440"/>
            <a:ext cx="5303520" cy="4114800"/>
          </a:xfrm>
          <a:prstGeom prst="roundRect">
            <a:avLst>
              <a:gd name="adj" fmla="val 2222"/>
            </a:avLst>
          </a:prstGeom>
          <a:solidFill>
            <a:srgbClr val="2D1828"/>
          </a:solidFill>
          <a:ln/>
        </p:spPr>
      </p:sp>
      <p:sp>
        <p:nvSpPr>
          <p:cNvPr id="8" name="Shape 6"/>
          <p:cNvSpPr/>
          <p:nvPr/>
        </p:nvSpPr>
        <p:spPr>
          <a:xfrm>
            <a:off x="274320" y="1234440"/>
            <a:ext cx="91440" cy="4114800"/>
          </a:xfrm>
          <a:prstGeom prst="rect">
            <a:avLst/>
          </a:prstGeom>
          <a:solidFill>
            <a:srgbClr val="FF6B9D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3716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LESSONS FROM FAILED OPTIMIZATIONS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94360" y="1828800"/>
            <a:ext cx="47548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r>
              <a:rPr lang="en-US" sz="1000" dirty="0">
                <a:solidFill>
                  <a:srgbClr val="8899B4"/>
                </a:solidFill>
              </a:rPr>
              <a:t>PID/TID cache → 真实代码已有 pthread_getspecific + atomic load</a:t>
            </a:r>
            <a:endParaRPr lang="en-US" sz="1000" dirty="0"/>
          </a:p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r>
              <a:rPr lang="en-US" sz="1000" dirty="0">
                <a:solidFill>
                  <a:srgbClr val="8899B4"/>
                </a:solidFill>
              </a:rPr>
              <a:t>          优化方向正确，但冗余——原型重复开发了已有实现</a:t>
            </a:r>
            <a:endParaRPr lang="en-US" sz="1000" dirty="0"/>
          </a:p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endParaRPr lang="en-US" sz="1000" dirty="0"/>
          </a:p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r>
              <a:rPr lang="en-US" sz="1000" dirty="0">
                <a:solidFill>
                  <a:srgbClr val="8899B4"/>
                </a:solidFill>
              </a:rPr>
              <a:t>tracking fallback → free不走producer端查表</a:t>
            </a:r>
            <a:endParaRPr lang="en-US" sz="1000" dirty="0"/>
          </a:p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r>
              <a:rPr lang="en-US" sz="1000" dirty="0">
                <a:solidFill>
                  <a:srgbClr val="8899B4"/>
                </a:solidFill>
              </a:rPr>
              <a:t>          真实代码 free 直接发给 daemon 做匹配</a:t>
            </a:r>
            <a:endParaRPr lang="en-US" sz="1000" dirty="0"/>
          </a:p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r>
              <a:rPr lang="en-US" sz="1000" dirty="0">
                <a:solidFill>
                  <a:srgbClr val="8899B4"/>
                </a:solidFill>
              </a:rPr>
              <a:t>          优化了一个原型里才存在的瓶颈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0" y="1234440"/>
            <a:ext cx="5943600" cy="4114800"/>
          </a:xfrm>
          <a:prstGeom prst="roundRect">
            <a:avLst>
              <a:gd name="adj" fmla="val 2222"/>
            </a:avLst>
          </a:prstGeom>
          <a:solidFill>
            <a:srgbClr val="143525"/>
          </a:solidFill>
          <a:ln/>
        </p:spPr>
      </p:sp>
      <p:sp>
        <p:nvSpPr>
          <p:cNvPr id="12" name="Shape 10"/>
          <p:cNvSpPr/>
          <p:nvPr/>
        </p:nvSpPr>
        <p:spPr>
          <a:xfrm>
            <a:off x="5943600" y="1234440"/>
            <a:ext cx="91440" cy="4114800"/>
          </a:xfrm>
          <a:prstGeom prst="rect">
            <a:avLst/>
          </a:prstGeom>
          <a:solidFill>
            <a:srgbClr val="3DFCB4"/>
          </a:solidFill>
          <a:ln/>
        </p:spPr>
      </p:sp>
      <p:sp>
        <p:nvSpPr>
          <p:cNvPr id="13" name="Text 11"/>
          <p:cNvSpPr/>
          <p:nvPr/>
        </p:nvSpPr>
        <p:spPr>
          <a:xfrm>
            <a:off x="6263640" y="13716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C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3-STEP  PRE-FLIGHT  [AGENTS.md]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263640" y="1828800"/>
            <a:ext cx="53035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r>
              <a:rPr lang="en-US" sz="1000" dirty="0">
                <a:solidFill>
                  <a:srgbClr val="8899B4"/>
                </a:solidFill>
              </a:rPr>
              <a:t>①  画映射表</a:t>
            </a:r>
            <a:endParaRPr lang="en-US" sz="1000" dirty="0"/>
          </a:p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r>
              <a:rPr lang="en-US" sz="1000" dirty="0">
                <a:solidFill>
                  <a:srgbClr val="8899B4"/>
                </a:solidFill>
              </a:rPr>
              <a:t>    原型每个模块 ↔ 真实代码 函数+行号</a:t>
            </a:r>
            <a:endParaRPr lang="en-US" sz="1000" dirty="0"/>
          </a:p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endParaRPr lang="en-US" sz="1000" dirty="0"/>
          </a:p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r>
              <a:rPr lang="en-US" sz="1000" dirty="0">
                <a:solidFill>
                  <a:srgbClr val="8899B4"/>
                </a:solidFill>
              </a:rPr>
              <a:t>②  结构对齐</a:t>
            </a:r>
            <a:endParaRPr lang="en-US" sz="1000" dirty="0"/>
          </a:p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r>
              <a:rPr lang="en-US" sz="1000" dirty="0">
                <a:solidFill>
                  <a:srgbClr val="8899B4"/>
                </a:solidFill>
              </a:rPr>
              <a:t>    原型补缺失模块，实验数据精确对标</a:t>
            </a:r>
            <a:endParaRPr lang="en-US" sz="1000" dirty="0"/>
          </a:p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endParaRPr lang="en-US" sz="1000" dirty="0"/>
          </a:p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r>
              <a:rPr lang="en-US" sz="1000" dirty="0">
                <a:solidFill>
                  <a:srgbClr val="8899B4"/>
                </a:solidFill>
              </a:rPr>
              <a:t>③  三问预检</a:t>
            </a:r>
            <a:endParaRPr lang="en-US" sz="1000" dirty="0"/>
          </a:p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r>
              <a:rPr lang="en-US" sz="1000" dirty="0">
                <a:solidFill>
                  <a:srgbClr val="8899B4"/>
                </a:solidFill>
              </a:rPr>
              <a:t>    Q1: 改哪个原型模块？</a:t>
            </a:r>
            <a:endParaRPr lang="en-US" sz="1000" dirty="0"/>
          </a:p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r>
              <a:rPr lang="en-US" sz="1000" dirty="0">
                <a:solidFill>
                  <a:srgbClr val="8899B4"/>
                </a:solidFill>
              </a:rPr>
              <a:t>    Q2: 对应哪个真实函数？</a:t>
            </a:r>
            <a:endParaRPr lang="en-US" sz="1000" dirty="0"/>
          </a:p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r>
              <a:rPr lang="en-US" sz="1000" dirty="0">
                <a:solidFill>
                  <a:srgbClr val="8899B4"/>
                </a:solidFill>
              </a:rPr>
              <a:t>    Q3: 真实代码走不走这条路径？</a:t>
            </a:r>
            <a:endParaRPr lang="en-US" sz="1000" dirty="0"/>
          </a:p>
          <a:p>
            <a:pPr marL="342900" indent="-342900">
              <a:lnSpc>
                <a:spcPts val="2200"/>
              </a:lnSpc>
              <a:spcAft>
                <a:spcPts val="500"/>
              </a:spcAft>
              <a:buSzPct val="100000"/>
              <a:buChar char="▸"/>
            </a:pPr>
            <a:r>
              <a:rPr lang="en-US" sz="1000" dirty="0">
                <a:solidFill>
                  <a:srgbClr val="8899B4"/>
                </a:solidFill>
              </a:rPr>
              <a:t>    → 答不上来，不动手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28600"/>
            <a:ext cx="822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DE1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80160" y="274320"/>
            <a:ext cx="25400" cy="502920"/>
          </a:xfrm>
          <a:prstGeom prst="rect">
            <a:avLst/>
          </a:prstGeom>
          <a:solidFill>
            <a:srgbClr val="2DE1FC"/>
          </a:solidFill>
          <a:ln/>
        </p:spPr>
      </p:sp>
      <p:sp>
        <p:nvSpPr>
          <p:cNvPr id="4" name="Text 2"/>
          <p:cNvSpPr/>
          <p:nvPr/>
        </p:nvSpPr>
        <p:spPr>
          <a:xfrm>
            <a:off x="1463040" y="201168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F6FF"/>
                </a:solidFill>
              </a:rPr>
              <a:t>Next Steps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960120"/>
            <a:ext cx="12188952" cy="12700"/>
          </a:xfrm>
          <a:prstGeom prst="rect">
            <a:avLst/>
          </a:prstGeom>
          <a:solidFill>
            <a:srgbClr val="1E3045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1371600"/>
            <a:ext cx="10332720" cy="1417320"/>
          </a:xfrm>
          <a:prstGeom prst="roundRect">
            <a:avLst>
              <a:gd name="adj" fmla="val 6452"/>
            </a:avLst>
          </a:prstGeom>
          <a:solidFill>
            <a:srgbClr val="162230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91440" cy="1417320"/>
          </a:xfrm>
          <a:prstGeom prst="rect">
            <a:avLst/>
          </a:prstGeom>
          <a:solidFill>
            <a:srgbClr val="2DE1FC"/>
          </a:solidFill>
          <a:ln/>
        </p:spPr>
      </p:sp>
      <p:sp>
        <p:nvSpPr>
          <p:cNvPr id="8" name="Text 6"/>
          <p:cNvSpPr/>
          <p:nvPr/>
        </p:nvSpPr>
        <p:spPr>
          <a:xfrm>
            <a:off x="1234440" y="1508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E1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103120" y="1554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F6FF"/>
                </a:solidFill>
              </a:rPr>
              <a:t>Producer 端继续拆解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103120" y="2011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B4"/>
                </a:solidFill>
              </a:rPr>
              <a:t>consumer 侧 profiling · 完善 sub-stage 36 完整链测量数据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14400" y="3108960"/>
            <a:ext cx="10332720" cy="1417320"/>
          </a:xfrm>
          <a:prstGeom prst="roundRect">
            <a:avLst>
              <a:gd name="adj" fmla="val 6452"/>
            </a:avLst>
          </a:prstGeom>
          <a:solidFill>
            <a:srgbClr val="162230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3108960"/>
            <a:ext cx="91440" cy="1417320"/>
          </a:xfrm>
          <a:prstGeom prst="rect">
            <a:avLst/>
          </a:prstGeom>
          <a:solidFill>
            <a:srgbClr val="3DFCB4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32461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FC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2103120" y="32918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F6FF"/>
                </a:solidFill>
              </a:rPr>
              <a:t>真实代码验证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10312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B4"/>
                </a:solidFill>
              </a:rPr>
              <a:t>等待 OpenHarmony 编译环境 → GitLab fork benchmark → 合 master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4400" y="4846320"/>
            <a:ext cx="10332720" cy="1417320"/>
          </a:xfrm>
          <a:prstGeom prst="roundRect">
            <a:avLst>
              <a:gd name="adj" fmla="val 6452"/>
            </a:avLst>
          </a:prstGeom>
          <a:solidFill>
            <a:srgbClr val="162230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" y="4846320"/>
            <a:ext cx="91440" cy="1417320"/>
          </a:xfrm>
          <a:prstGeom prst="rect">
            <a:avLst/>
          </a:prstGeom>
          <a:solidFill>
            <a:srgbClr val="C4A0FF"/>
          </a:solidFill>
          <a:ln/>
        </p:spPr>
      </p:sp>
      <p:sp>
        <p:nvSpPr>
          <p:cNvPr id="18" name="Text 16"/>
          <p:cNvSpPr/>
          <p:nvPr/>
        </p:nvSpPr>
        <p:spPr>
          <a:xfrm>
            <a:off x="1234440" y="49834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2103120" y="5029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F6FF"/>
                </a:solidFill>
              </a:rPr>
              <a:t>eBPF 线（如需继续）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103120" y="5486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B4"/>
                </a:solidFill>
              </a:rPr>
              <a:t>上次遗留: 4T 异常快 → 更高线程数重复实验确认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Producer Hot Path Progress</dc:title>
  <dc:subject>PptxGenJS Presentation</dc:subject>
  <dc:creator>陈一驰</dc:creator>
  <cp:lastModifiedBy>陈一驰</cp:lastModifiedBy>
  <cp:revision>1</cp:revision>
  <dcterms:created xsi:type="dcterms:W3CDTF">2026-06-02T07:58:37Z</dcterms:created>
  <dcterms:modified xsi:type="dcterms:W3CDTF">2026-06-02T07:58:37Z</dcterms:modified>
</cp:coreProperties>
</file>